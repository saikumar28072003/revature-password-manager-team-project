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Anton" charset="1" panose="00000500000000000000"/>
      <p:regular r:id="rId27"/>
    </p:embeddedFont>
    <p:embeddedFont>
      <p:font typeface="Helvetica World" charset="1" panose="020B0500040000020004"/>
      <p:regular r:id="rId28"/>
    </p:embeddedFont>
    <p:embeddedFont>
      <p:font typeface="Helvetica World Bold" charset="1" panose="020B080004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grpSp>
        <p:nvGrpSpPr>
          <p:cNvPr name="Group 2" id="2"/>
          <p:cNvGrpSpPr/>
          <p:nvPr/>
        </p:nvGrpSpPr>
        <p:grpSpPr>
          <a:xfrm rot="0">
            <a:off x="0" y="4710461"/>
            <a:ext cx="9637365" cy="212578"/>
            <a:chOff x="0" y="0"/>
            <a:chExt cx="2538236" cy="55988"/>
          </a:xfrm>
        </p:grpSpPr>
        <p:sp>
          <p:nvSpPr>
            <p:cNvPr name="Freeform 3" id="3"/>
            <p:cNvSpPr/>
            <p:nvPr/>
          </p:nvSpPr>
          <p:spPr>
            <a:xfrm flipH="false" flipV="false" rot="0">
              <a:off x="0" y="0"/>
              <a:ext cx="2538236" cy="55988"/>
            </a:xfrm>
            <a:custGeom>
              <a:avLst/>
              <a:gdLst/>
              <a:ahLst/>
              <a:cxnLst/>
              <a:rect r="r" b="b" t="t" l="l"/>
              <a:pathLst>
                <a:path h="55988" w="2538236">
                  <a:moveTo>
                    <a:pt x="0" y="0"/>
                  </a:moveTo>
                  <a:lnTo>
                    <a:pt x="2538236" y="0"/>
                  </a:lnTo>
                  <a:lnTo>
                    <a:pt x="2538236" y="55988"/>
                  </a:lnTo>
                  <a:lnTo>
                    <a:pt x="0" y="55988"/>
                  </a:lnTo>
                  <a:close/>
                </a:path>
              </a:pathLst>
            </a:custGeom>
            <a:solidFill>
              <a:srgbClr val="FFFFFF"/>
            </a:solidFill>
          </p:spPr>
        </p:sp>
        <p:sp>
          <p:nvSpPr>
            <p:cNvPr name="TextBox 4" id="4"/>
            <p:cNvSpPr txBox="true"/>
            <p:nvPr/>
          </p:nvSpPr>
          <p:spPr>
            <a:xfrm>
              <a:off x="0" y="-47625"/>
              <a:ext cx="2538236" cy="103613"/>
            </a:xfrm>
            <a:prstGeom prst="rect">
              <a:avLst/>
            </a:prstGeom>
          </p:spPr>
          <p:txBody>
            <a:bodyPr anchor="ctr" rtlCol="false" tIns="50800" lIns="50800" bIns="50800" rIns="50800"/>
            <a:lstStyle/>
            <a:p>
              <a:pPr algn="ctr">
                <a:lnSpc>
                  <a:spcPts val="3639"/>
                </a:lnSpc>
              </a:pPr>
            </a:p>
          </p:txBody>
        </p:sp>
      </p:grpSp>
      <p:sp>
        <p:nvSpPr>
          <p:cNvPr name="TextBox 5" id="5"/>
          <p:cNvSpPr txBox="true"/>
          <p:nvPr/>
        </p:nvSpPr>
        <p:spPr>
          <a:xfrm rot="0">
            <a:off x="1167714" y="197129"/>
            <a:ext cx="11665041" cy="3613320"/>
          </a:xfrm>
          <a:prstGeom prst="rect">
            <a:avLst/>
          </a:prstGeom>
        </p:spPr>
        <p:txBody>
          <a:bodyPr anchor="t" rtlCol="false" tIns="0" lIns="0" bIns="0" rIns="0">
            <a:spAutoFit/>
          </a:bodyPr>
          <a:lstStyle/>
          <a:p>
            <a:pPr algn="l">
              <a:lnSpc>
                <a:spcPts val="14515"/>
              </a:lnSpc>
              <a:spcBef>
                <a:spcPct val="0"/>
              </a:spcBef>
            </a:pPr>
            <a:r>
              <a:rPr lang="en-US" sz="10368">
                <a:solidFill>
                  <a:srgbClr val="FFFFFF"/>
                </a:solidFill>
                <a:latin typeface="Anton"/>
                <a:ea typeface="Anton"/>
                <a:cs typeface="Anton"/>
                <a:sym typeface="Anton"/>
              </a:rPr>
              <a:t>REVPASSWORD MANAGER</a:t>
            </a:r>
          </a:p>
        </p:txBody>
      </p:sp>
      <p:sp>
        <p:nvSpPr>
          <p:cNvPr name="Freeform 6" id="6"/>
          <p:cNvSpPr/>
          <p:nvPr/>
        </p:nvSpPr>
        <p:spPr>
          <a:xfrm flipH="false" flipV="false" rot="0">
            <a:off x="11461217" y="2949928"/>
            <a:ext cx="5365991" cy="5136511"/>
          </a:xfrm>
          <a:custGeom>
            <a:avLst/>
            <a:gdLst/>
            <a:ahLst/>
            <a:cxnLst/>
            <a:rect r="r" b="b" t="t" l="l"/>
            <a:pathLst>
              <a:path h="5136511" w="5365991">
                <a:moveTo>
                  <a:pt x="0" y="0"/>
                </a:moveTo>
                <a:lnTo>
                  <a:pt x="5365991" y="0"/>
                </a:lnTo>
                <a:lnTo>
                  <a:pt x="5365991" y="5136511"/>
                </a:lnTo>
                <a:lnTo>
                  <a:pt x="0" y="5136511"/>
                </a:lnTo>
                <a:lnTo>
                  <a:pt x="0" y="0"/>
                </a:lnTo>
                <a:close/>
              </a:path>
            </a:pathLst>
          </a:custGeom>
          <a:blipFill>
            <a:blip r:embed="rId2"/>
            <a:stretch>
              <a:fillRect l="-15226" t="-16472" r="-12863" b="-17339"/>
            </a:stretch>
          </a:blipFill>
          <a:ln cap="rnd">
            <a:noFill/>
            <a:prstDash val="lgDash"/>
            <a:round/>
          </a:ln>
        </p:spPr>
      </p:sp>
      <p:sp>
        <p:nvSpPr>
          <p:cNvPr name="TextBox 7" id="7"/>
          <p:cNvSpPr txBox="true"/>
          <p:nvPr/>
        </p:nvSpPr>
        <p:spPr>
          <a:xfrm rot="0">
            <a:off x="1922360" y="5770764"/>
            <a:ext cx="9310389" cy="3927410"/>
          </a:xfrm>
          <a:prstGeom prst="rect">
            <a:avLst/>
          </a:prstGeom>
        </p:spPr>
        <p:txBody>
          <a:bodyPr anchor="t" rtlCol="false" tIns="0" lIns="0" bIns="0" rIns="0">
            <a:spAutoFit/>
          </a:bodyPr>
          <a:lstStyle/>
          <a:p>
            <a:pPr algn="l">
              <a:lnSpc>
                <a:spcPts val="3503"/>
              </a:lnSpc>
            </a:pPr>
            <a:r>
              <a:rPr lang="en-US" sz="2502">
                <a:solidFill>
                  <a:srgbClr val="FFFFFF"/>
                </a:solidFill>
                <a:latin typeface="Helvetica World"/>
                <a:ea typeface="Helvetica World"/>
                <a:cs typeface="Helvetica World"/>
                <a:sym typeface="Helvetica World"/>
              </a:rPr>
              <a:t>Presented By:      Sai Kumar   </a:t>
            </a:r>
          </a:p>
          <a:p>
            <a:pPr algn="l">
              <a:lnSpc>
                <a:spcPts val="3503"/>
              </a:lnSpc>
            </a:pPr>
            <a:r>
              <a:rPr lang="en-US" sz="2502">
                <a:solidFill>
                  <a:srgbClr val="FFFFFF"/>
                </a:solidFill>
                <a:latin typeface="Helvetica World"/>
                <a:ea typeface="Helvetica World"/>
                <a:cs typeface="Helvetica World"/>
                <a:sym typeface="Helvetica World"/>
              </a:rPr>
              <a:t>                                Md Saleem</a:t>
            </a:r>
          </a:p>
          <a:p>
            <a:pPr algn="l">
              <a:lnSpc>
                <a:spcPts val="3503"/>
              </a:lnSpc>
            </a:pPr>
            <a:r>
              <a:rPr lang="en-US" sz="2502">
                <a:solidFill>
                  <a:srgbClr val="FFFFFF"/>
                </a:solidFill>
                <a:latin typeface="Helvetica World"/>
                <a:ea typeface="Helvetica World"/>
                <a:cs typeface="Helvetica World"/>
                <a:sym typeface="Helvetica World"/>
              </a:rPr>
              <a:t>                                Manideep</a:t>
            </a:r>
          </a:p>
          <a:p>
            <a:pPr algn="l">
              <a:lnSpc>
                <a:spcPts val="3503"/>
              </a:lnSpc>
            </a:pPr>
            <a:r>
              <a:rPr lang="en-US" sz="2502">
                <a:solidFill>
                  <a:srgbClr val="FFFFFF"/>
                </a:solidFill>
                <a:latin typeface="Helvetica World"/>
                <a:ea typeface="Helvetica World"/>
                <a:cs typeface="Helvetica World"/>
                <a:sym typeface="Helvetica World"/>
              </a:rPr>
              <a:t>                                Anjan Kumar</a:t>
            </a:r>
          </a:p>
          <a:p>
            <a:pPr algn="l">
              <a:lnSpc>
                <a:spcPts val="3503"/>
              </a:lnSpc>
            </a:pPr>
            <a:r>
              <a:rPr lang="en-US" sz="2502">
                <a:solidFill>
                  <a:srgbClr val="FFFFFF"/>
                </a:solidFill>
                <a:latin typeface="Helvetica World"/>
                <a:ea typeface="Helvetica World"/>
                <a:cs typeface="Helvetica World"/>
                <a:sym typeface="Helvetica World"/>
              </a:rPr>
              <a:t>                                Hemanth</a:t>
            </a:r>
          </a:p>
          <a:p>
            <a:pPr algn="l">
              <a:lnSpc>
                <a:spcPts val="3503"/>
              </a:lnSpc>
            </a:pPr>
            <a:r>
              <a:rPr lang="en-US" sz="2502">
                <a:solidFill>
                  <a:srgbClr val="FFFFFF"/>
                </a:solidFill>
                <a:latin typeface="Helvetica World"/>
                <a:ea typeface="Helvetica World"/>
                <a:cs typeface="Helvetica World"/>
                <a:sym typeface="Helvetica World"/>
              </a:rPr>
              <a:t>                                Venkata Sai Reddy</a:t>
            </a:r>
          </a:p>
          <a:p>
            <a:pPr algn="l">
              <a:lnSpc>
                <a:spcPts val="3503"/>
              </a:lnSpc>
            </a:pPr>
          </a:p>
          <a:p>
            <a:pPr algn="l">
              <a:lnSpc>
                <a:spcPts val="3503"/>
              </a:lnSpc>
            </a:pPr>
          </a:p>
          <a:p>
            <a:pPr algn="l">
              <a:lnSpc>
                <a:spcPts val="3503"/>
              </a:lnSpc>
              <a:spcBef>
                <a:spcPct val="0"/>
              </a:spcBef>
            </a:pPr>
            <a:r>
              <a:rPr lang="en-US" sz="2502">
                <a:solidFill>
                  <a:srgbClr val="FFFFFF"/>
                </a:solidFill>
                <a:latin typeface="Helvetica World"/>
                <a:ea typeface="Helvetica World"/>
                <a:cs typeface="Helvetica World"/>
                <a:sym typeface="Helvetica World"/>
              </a:rPr>
              <a:t>  </a:t>
            </a:r>
          </a:p>
        </p:txBody>
      </p:sp>
      <p:sp>
        <p:nvSpPr>
          <p:cNvPr name="TextBox 8" id="8"/>
          <p:cNvSpPr txBox="true"/>
          <p:nvPr/>
        </p:nvSpPr>
        <p:spPr>
          <a:xfrm rot="0">
            <a:off x="1693891" y="4017250"/>
            <a:ext cx="9767326" cy="43878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Helvetica World"/>
                <a:ea typeface="Helvetica World"/>
                <a:cs typeface="Helvetica World"/>
                <a:sym typeface="Helvetica World"/>
              </a:rPr>
              <a:t>Secure Enterprise Password Vault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0">
            <a:off x="1629720" y="-3417778"/>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grpSp>
        <p:nvGrpSpPr>
          <p:cNvPr name="Group 3" id="3"/>
          <p:cNvGrpSpPr/>
          <p:nvPr/>
        </p:nvGrpSpPr>
        <p:grpSpPr>
          <a:xfrm rot="0">
            <a:off x="-408865" y="-392510"/>
            <a:ext cx="5806429" cy="11072020"/>
            <a:chOff x="0" y="0"/>
            <a:chExt cx="1529265" cy="2916088"/>
          </a:xfrm>
        </p:grpSpPr>
        <p:sp>
          <p:nvSpPr>
            <p:cNvPr name="Freeform 4" id="4"/>
            <p:cNvSpPr/>
            <p:nvPr/>
          </p:nvSpPr>
          <p:spPr>
            <a:xfrm flipH="false" flipV="false" rot="0">
              <a:off x="0" y="0"/>
              <a:ext cx="1529265" cy="2916088"/>
            </a:xfrm>
            <a:custGeom>
              <a:avLst/>
              <a:gdLst/>
              <a:ahLst/>
              <a:cxnLst/>
              <a:rect r="r" b="b" t="t" l="l"/>
              <a:pathLst>
                <a:path h="2916088" w="1529265">
                  <a:moveTo>
                    <a:pt x="0" y="0"/>
                  </a:moveTo>
                  <a:lnTo>
                    <a:pt x="1529265" y="0"/>
                  </a:lnTo>
                  <a:lnTo>
                    <a:pt x="1529265" y="2916088"/>
                  </a:lnTo>
                  <a:lnTo>
                    <a:pt x="0" y="2916088"/>
                  </a:lnTo>
                  <a:close/>
                </a:path>
              </a:pathLst>
            </a:custGeom>
            <a:solidFill>
              <a:srgbClr val="FFFFFF"/>
            </a:solidFill>
          </p:spPr>
        </p:sp>
        <p:sp>
          <p:nvSpPr>
            <p:cNvPr name="TextBox 5" id="5"/>
            <p:cNvSpPr txBox="true"/>
            <p:nvPr/>
          </p:nvSpPr>
          <p:spPr>
            <a:xfrm>
              <a:off x="0" y="-47625"/>
              <a:ext cx="1529265" cy="2963713"/>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3080183" y="6888399"/>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TextBox 7" id="7"/>
          <p:cNvSpPr txBox="true"/>
          <p:nvPr/>
        </p:nvSpPr>
        <p:spPr>
          <a:xfrm rot="0">
            <a:off x="6198420" y="841068"/>
            <a:ext cx="9475930" cy="3554085"/>
          </a:xfrm>
          <a:prstGeom prst="rect">
            <a:avLst/>
          </a:prstGeom>
        </p:spPr>
        <p:txBody>
          <a:bodyPr anchor="t" rtlCol="false" tIns="0" lIns="0" bIns="0" rIns="0">
            <a:spAutoFit/>
          </a:bodyPr>
          <a:lstStyle/>
          <a:p>
            <a:pPr algn="l">
              <a:lnSpc>
                <a:spcPts val="9214"/>
              </a:lnSpc>
            </a:pPr>
            <a:r>
              <a:rPr lang="en-US" sz="9499">
                <a:solidFill>
                  <a:srgbClr val="FFFFFF"/>
                </a:solidFill>
                <a:latin typeface="Anton"/>
                <a:ea typeface="Anton"/>
                <a:cs typeface="Anton"/>
                <a:sym typeface="Anton"/>
              </a:rPr>
              <a:t>PROBLEM </a:t>
            </a:r>
          </a:p>
          <a:p>
            <a:pPr algn="l">
              <a:lnSpc>
                <a:spcPts val="9214"/>
              </a:lnSpc>
            </a:pPr>
            <a:r>
              <a:rPr lang="en-US" sz="9499">
                <a:solidFill>
                  <a:srgbClr val="FFFFFF"/>
                </a:solidFill>
                <a:latin typeface="Anton"/>
                <a:ea typeface="Anton"/>
                <a:cs typeface="Anton"/>
                <a:sym typeface="Anton"/>
              </a:rPr>
              <a:t>STATEMENT</a:t>
            </a:r>
          </a:p>
          <a:p>
            <a:pPr algn="l">
              <a:lnSpc>
                <a:spcPts val="9214"/>
              </a:lnSpc>
            </a:pPr>
          </a:p>
        </p:txBody>
      </p:sp>
      <p:sp>
        <p:nvSpPr>
          <p:cNvPr name="TextBox 8" id="8"/>
          <p:cNvSpPr txBox="true"/>
          <p:nvPr/>
        </p:nvSpPr>
        <p:spPr>
          <a:xfrm rot="0">
            <a:off x="-628832" y="1189932"/>
            <a:ext cx="6026397" cy="4503646"/>
          </a:xfrm>
          <a:prstGeom prst="rect">
            <a:avLst/>
          </a:prstGeom>
        </p:spPr>
        <p:txBody>
          <a:bodyPr anchor="t" rtlCol="false" tIns="0" lIns="0" bIns="0" rIns="0">
            <a:spAutoFit/>
          </a:bodyPr>
          <a:lstStyle/>
          <a:p>
            <a:pPr algn="ctr">
              <a:lnSpc>
                <a:spcPts val="33472"/>
              </a:lnSpc>
            </a:pPr>
            <a:r>
              <a:rPr lang="en-US" sz="34507">
                <a:solidFill>
                  <a:srgbClr val="2B3D73"/>
                </a:solidFill>
                <a:latin typeface="Anton"/>
                <a:ea typeface="Anton"/>
                <a:cs typeface="Anton"/>
                <a:sym typeface="Anton"/>
              </a:rPr>
              <a:t>01</a:t>
            </a:r>
          </a:p>
        </p:txBody>
      </p:sp>
      <p:sp>
        <p:nvSpPr>
          <p:cNvPr name="TextBox 9" id="9"/>
          <p:cNvSpPr txBox="true"/>
          <p:nvPr/>
        </p:nvSpPr>
        <p:spPr>
          <a:xfrm rot="0">
            <a:off x="6838676" y="4152983"/>
            <a:ext cx="10674819" cy="3442314"/>
          </a:xfrm>
          <a:prstGeom prst="rect">
            <a:avLst/>
          </a:prstGeom>
        </p:spPr>
        <p:txBody>
          <a:bodyPr anchor="t" rtlCol="false" tIns="0" lIns="0" bIns="0" rIns="0">
            <a:spAutoFit/>
          </a:bodyPr>
          <a:lstStyle/>
          <a:p>
            <a:pPr algn="l" marL="532844" indent="-266422" lvl="1">
              <a:lnSpc>
                <a:spcPts val="3455"/>
              </a:lnSpc>
              <a:buFont typeface="Arial"/>
              <a:buChar char="•"/>
            </a:pPr>
            <a:r>
              <a:rPr lang="en-US" sz="2468">
                <a:solidFill>
                  <a:srgbClr val="FFFFFF"/>
                </a:solidFill>
                <a:latin typeface="Helvetica World"/>
                <a:ea typeface="Helvetica World"/>
                <a:cs typeface="Helvetica World"/>
                <a:sym typeface="Helvetica World"/>
              </a:rPr>
              <a:t>Users manage multiple passwords across different platforms, and many reuse the same password for convenience. This creates major security risks because if one account is hacked, other accounts can also be exposed.</a:t>
            </a:r>
          </a:p>
          <a:p>
            <a:pPr algn="l" marL="532844" indent="-266422" lvl="1">
              <a:lnSpc>
                <a:spcPts val="3455"/>
              </a:lnSpc>
              <a:buFont typeface="Arial"/>
              <a:buChar char="•"/>
            </a:pPr>
            <a:r>
              <a:rPr lang="en-US" sz="2468">
                <a:solidFill>
                  <a:srgbClr val="FFFFFF"/>
                </a:solidFill>
                <a:latin typeface="Helvetica World"/>
                <a:ea typeface="Helvetica World"/>
                <a:cs typeface="Helvetica World"/>
                <a:sym typeface="Helvetica World"/>
              </a:rPr>
              <a:t>Storing passwords in plain text is unsafe and vulnerable to data breaches. Without encryption and centralized secure credential management, sensitive user information can be easily accessed by attackers.</a:t>
            </a:r>
          </a:p>
          <a:p>
            <a:pPr algn="l">
              <a:lnSpc>
                <a:spcPts val="3455"/>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0">
            <a:off x="12114668" y="-3157079"/>
            <a:ext cx="15827806" cy="6707033"/>
          </a:xfrm>
          <a:custGeom>
            <a:avLst/>
            <a:gdLst/>
            <a:ahLst/>
            <a:cxnLst/>
            <a:rect r="r" b="b" t="t" l="l"/>
            <a:pathLst>
              <a:path h="6707033" w="15827806">
                <a:moveTo>
                  <a:pt x="0" y="0"/>
                </a:moveTo>
                <a:lnTo>
                  <a:pt x="15827806" y="0"/>
                </a:lnTo>
                <a:lnTo>
                  <a:pt x="15827806" y="6707033"/>
                </a:lnTo>
                <a:lnTo>
                  <a:pt x="0" y="6707033"/>
                </a:lnTo>
                <a:lnTo>
                  <a:pt x="0" y="0"/>
                </a:lnTo>
                <a:close/>
              </a:path>
            </a:pathLst>
          </a:custGeom>
          <a:blipFill>
            <a:blip r:embed="rId2"/>
            <a:stretch>
              <a:fillRect l="0" t="0" r="0" b="0"/>
            </a:stretch>
          </a:blipFill>
        </p:spPr>
      </p:sp>
      <p:sp>
        <p:nvSpPr>
          <p:cNvPr name="Freeform 3" id="3"/>
          <p:cNvSpPr/>
          <p:nvPr/>
        </p:nvSpPr>
        <p:spPr>
          <a:xfrm flipH="true" flipV="false" rot="-2120312">
            <a:off x="-3286077" y="9574478"/>
            <a:ext cx="12760102" cy="5407093"/>
          </a:xfrm>
          <a:custGeom>
            <a:avLst/>
            <a:gdLst/>
            <a:ahLst/>
            <a:cxnLst/>
            <a:rect r="r" b="b" t="t" l="l"/>
            <a:pathLst>
              <a:path h="5407093" w="12760102">
                <a:moveTo>
                  <a:pt x="12760103" y="0"/>
                </a:moveTo>
                <a:lnTo>
                  <a:pt x="0" y="0"/>
                </a:lnTo>
                <a:lnTo>
                  <a:pt x="0" y="5407093"/>
                </a:lnTo>
                <a:lnTo>
                  <a:pt x="12760103" y="5407093"/>
                </a:lnTo>
                <a:lnTo>
                  <a:pt x="12760103" y="0"/>
                </a:lnTo>
                <a:close/>
              </a:path>
            </a:pathLst>
          </a:custGeom>
          <a:blipFill>
            <a:blip r:embed="rId2"/>
            <a:stretch>
              <a:fillRect l="0" t="0" r="0" b="0"/>
            </a:stretch>
          </a:blipFill>
        </p:spPr>
      </p:sp>
      <p:grpSp>
        <p:nvGrpSpPr>
          <p:cNvPr name="Group 4" id="4"/>
          <p:cNvGrpSpPr/>
          <p:nvPr/>
        </p:nvGrpSpPr>
        <p:grpSpPr>
          <a:xfrm rot="0">
            <a:off x="-408865" y="-392510"/>
            <a:ext cx="2033338" cy="11072020"/>
            <a:chOff x="0" y="0"/>
            <a:chExt cx="535529" cy="2916088"/>
          </a:xfrm>
        </p:grpSpPr>
        <p:sp>
          <p:nvSpPr>
            <p:cNvPr name="Freeform 5" id="5"/>
            <p:cNvSpPr/>
            <p:nvPr/>
          </p:nvSpPr>
          <p:spPr>
            <a:xfrm flipH="false" flipV="false" rot="0">
              <a:off x="0" y="0"/>
              <a:ext cx="535529" cy="2916088"/>
            </a:xfrm>
            <a:custGeom>
              <a:avLst/>
              <a:gdLst/>
              <a:ahLst/>
              <a:cxnLst/>
              <a:rect r="r" b="b" t="t" l="l"/>
              <a:pathLst>
                <a:path h="2916088" w="535529">
                  <a:moveTo>
                    <a:pt x="0" y="0"/>
                  </a:moveTo>
                  <a:lnTo>
                    <a:pt x="535529" y="0"/>
                  </a:lnTo>
                  <a:lnTo>
                    <a:pt x="535529" y="2916088"/>
                  </a:lnTo>
                  <a:lnTo>
                    <a:pt x="0" y="2916088"/>
                  </a:lnTo>
                  <a:close/>
                </a:path>
              </a:pathLst>
            </a:custGeom>
            <a:solidFill>
              <a:srgbClr val="FFFFFF"/>
            </a:solidFill>
          </p:spPr>
        </p:sp>
        <p:sp>
          <p:nvSpPr>
            <p:cNvPr name="TextBox 6" id="6"/>
            <p:cNvSpPr txBox="true"/>
            <p:nvPr/>
          </p:nvSpPr>
          <p:spPr>
            <a:xfrm>
              <a:off x="0" y="-47625"/>
              <a:ext cx="535529" cy="2963713"/>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1889197" y="924249"/>
            <a:ext cx="8114779" cy="2625705"/>
          </a:xfrm>
          <a:prstGeom prst="rect">
            <a:avLst/>
          </a:prstGeom>
        </p:spPr>
        <p:txBody>
          <a:bodyPr anchor="t" rtlCol="false" tIns="0" lIns="0" bIns="0" rIns="0">
            <a:spAutoFit/>
          </a:bodyPr>
          <a:lstStyle/>
          <a:p>
            <a:pPr algn="l">
              <a:lnSpc>
                <a:spcPts val="10105"/>
              </a:lnSpc>
            </a:pPr>
            <a:r>
              <a:rPr lang="en-US" sz="10417">
                <a:solidFill>
                  <a:srgbClr val="FFFFFF"/>
                </a:solidFill>
                <a:latin typeface="Anton"/>
                <a:ea typeface="Anton"/>
                <a:cs typeface="Anton"/>
                <a:sym typeface="Anton"/>
              </a:rPr>
              <a:t>PROPOSED  </a:t>
            </a:r>
          </a:p>
          <a:p>
            <a:pPr algn="l">
              <a:lnSpc>
                <a:spcPts val="10105"/>
              </a:lnSpc>
            </a:pPr>
            <a:r>
              <a:rPr lang="en-US" sz="10417">
                <a:solidFill>
                  <a:srgbClr val="FFFFFF"/>
                </a:solidFill>
                <a:latin typeface="Anton"/>
                <a:ea typeface="Anton"/>
                <a:cs typeface="Anton"/>
                <a:sym typeface="Anton"/>
              </a:rPr>
              <a:t>  SOLUTION</a:t>
            </a:r>
          </a:p>
        </p:txBody>
      </p:sp>
      <p:sp>
        <p:nvSpPr>
          <p:cNvPr name="TextBox 8" id="8"/>
          <p:cNvSpPr txBox="true"/>
          <p:nvPr/>
        </p:nvSpPr>
        <p:spPr>
          <a:xfrm rot="0">
            <a:off x="12469846" y="283765"/>
            <a:ext cx="6569616" cy="4071160"/>
          </a:xfrm>
          <a:prstGeom prst="rect">
            <a:avLst/>
          </a:prstGeom>
        </p:spPr>
        <p:txBody>
          <a:bodyPr anchor="t" rtlCol="false" tIns="0" lIns="0" bIns="0" rIns="0">
            <a:spAutoFit/>
          </a:bodyPr>
          <a:lstStyle/>
          <a:p>
            <a:pPr algn="ctr">
              <a:lnSpc>
                <a:spcPts val="30233"/>
              </a:lnSpc>
            </a:pPr>
            <a:r>
              <a:rPr lang="en-US" sz="31168">
                <a:solidFill>
                  <a:srgbClr val="FFFFFF"/>
                </a:solidFill>
                <a:latin typeface="Anton"/>
                <a:ea typeface="Anton"/>
                <a:cs typeface="Anton"/>
                <a:sym typeface="Anton"/>
              </a:rPr>
              <a:t>02</a:t>
            </a:r>
          </a:p>
        </p:txBody>
      </p:sp>
      <p:sp>
        <p:nvSpPr>
          <p:cNvPr name="TextBox 9" id="9"/>
          <p:cNvSpPr txBox="true"/>
          <p:nvPr/>
        </p:nvSpPr>
        <p:spPr>
          <a:xfrm rot="0">
            <a:off x="3471298" y="3984318"/>
            <a:ext cx="10958538" cy="4729384"/>
          </a:xfrm>
          <a:prstGeom prst="rect">
            <a:avLst/>
          </a:prstGeom>
        </p:spPr>
        <p:txBody>
          <a:bodyPr anchor="t" rtlCol="false" tIns="0" lIns="0" bIns="0" rIns="0">
            <a:spAutoFit/>
          </a:bodyPr>
          <a:lstStyle/>
          <a:p>
            <a:pPr algn="l">
              <a:lnSpc>
                <a:spcPts val="4625"/>
              </a:lnSpc>
            </a:pPr>
            <a:r>
              <a:rPr lang="en-US" b="true" sz="3303">
                <a:solidFill>
                  <a:srgbClr val="FFFFFF"/>
                </a:solidFill>
                <a:latin typeface="Helvetica World Bold"/>
                <a:ea typeface="Helvetica World Bold"/>
                <a:cs typeface="Helvetica World Bold"/>
                <a:sym typeface="Helvetica World Bold"/>
              </a:rPr>
              <a:t>Revature Password Manager Provides:</a:t>
            </a:r>
          </a:p>
          <a:p>
            <a:pPr algn="l" marL="626928" indent="-313464" lvl="1">
              <a:lnSpc>
                <a:spcPts val="4065"/>
              </a:lnSpc>
              <a:buFont typeface="Arial"/>
              <a:buChar char="•"/>
            </a:pPr>
            <a:r>
              <a:rPr lang="en-US" sz="2903">
                <a:solidFill>
                  <a:srgbClr val="FFFFFF"/>
                </a:solidFill>
                <a:latin typeface="Helvetica World"/>
                <a:ea typeface="Helvetica World"/>
                <a:cs typeface="Helvetica World"/>
                <a:sym typeface="Helvetica World"/>
              </a:rPr>
              <a:t>Secure user registration</a:t>
            </a:r>
          </a:p>
          <a:p>
            <a:pPr algn="l" marL="626928" indent="-313464" lvl="1">
              <a:lnSpc>
                <a:spcPts val="4065"/>
              </a:lnSpc>
              <a:buFont typeface="Arial"/>
              <a:buChar char="•"/>
            </a:pPr>
            <a:r>
              <a:rPr lang="en-US" sz="2903">
                <a:solidFill>
                  <a:srgbClr val="FFFFFF"/>
                </a:solidFill>
                <a:latin typeface="Helvetica World"/>
                <a:ea typeface="Helvetica World"/>
                <a:cs typeface="Helvetica World"/>
                <a:sym typeface="Helvetica World"/>
              </a:rPr>
              <a:t>AES-encrypted password vault</a:t>
            </a:r>
          </a:p>
          <a:p>
            <a:pPr algn="l" marL="626928" indent="-313464" lvl="1">
              <a:lnSpc>
                <a:spcPts val="4065"/>
              </a:lnSpc>
              <a:buFont typeface="Arial"/>
              <a:buChar char="•"/>
            </a:pPr>
            <a:r>
              <a:rPr lang="en-US" sz="2903">
                <a:solidFill>
                  <a:srgbClr val="FFFFFF"/>
                </a:solidFill>
                <a:latin typeface="Helvetica World"/>
                <a:ea typeface="Helvetica World"/>
                <a:cs typeface="Helvetica World"/>
                <a:sym typeface="Helvetica World"/>
              </a:rPr>
              <a:t>Two-Factor Authentication (2FA)</a:t>
            </a:r>
          </a:p>
          <a:p>
            <a:pPr algn="l" marL="626928" indent="-313464" lvl="1">
              <a:lnSpc>
                <a:spcPts val="4065"/>
              </a:lnSpc>
              <a:buFont typeface="Arial"/>
              <a:buChar char="•"/>
            </a:pPr>
            <a:r>
              <a:rPr lang="en-US" sz="2903">
                <a:solidFill>
                  <a:srgbClr val="FFFFFF"/>
                </a:solidFill>
                <a:latin typeface="Helvetica World"/>
                <a:ea typeface="Helvetica World"/>
                <a:cs typeface="Helvetica World"/>
                <a:sym typeface="Helvetica World"/>
              </a:rPr>
              <a:t>Security question recovery</a:t>
            </a:r>
          </a:p>
          <a:p>
            <a:pPr algn="l" marL="626928" indent="-313464" lvl="1">
              <a:lnSpc>
                <a:spcPts val="4065"/>
              </a:lnSpc>
              <a:buFont typeface="Arial"/>
              <a:buChar char="•"/>
            </a:pPr>
            <a:r>
              <a:rPr lang="en-US" sz="2903">
                <a:solidFill>
                  <a:srgbClr val="FFFFFF"/>
                </a:solidFill>
                <a:latin typeface="Helvetica World"/>
                <a:ea typeface="Helvetica World"/>
                <a:cs typeface="Helvetica World"/>
                <a:sym typeface="Helvetica World"/>
              </a:rPr>
              <a:t>Master password protection</a:t>
            </a:r>
          </a:p>
          <a:p>
            <a:pPr algn="l" marL="626928" indent="-313464" lvl="1">
              <a:lnSpc>
                <a:spcPts val="4065"/>
              </a:lnSpc>
              <a:buFont typeface="Arial"/>
              <a:buChar char="•"/>
            </a:pPr>
            <a:r>
              <a:rPr lang="en-US" sz="2903">
                <a:solidFill>
                  <a:srgbClr val="FFFFFF"/>
                </a:solidFill>
                <a:latin typeface="Helvetica World"/>
                <a:ea typeface="Helvetica World"/>
                <a:cs typeface="Helvetica World"/>
                <a:sym typeface="Helvetica World"/>
              </a:rPr>
              <a:t>Layered architecture design</a:t>
            </a:r>
          </a:p>
          <a:p>
            <a:pPr algn="l" marL="626928" indent="-313464" lvl="1">
              <a:lnSpc>
                <a:spcPts val="4065"/>
              </a:lnSpc>
              <a:buFont typeface="Arial"/>
              <a:buChar char="•"/>
            </a:pPr>
            <a:r>
              <a:rPr lang="en-US" sz="2903">
                <a:solidFill>
                  <a:srgbClr val="FFFFFF"/>
                </a:solidFill>
                <a:latin typeface="Helvetica World"/>
                <a:ea typeface="Helvetica World"/>
                <a:cs typeface="Helvetica World"/>
                <a:sym typeface="Helvetica World"/>
              </a:rPr>
              <a:t>Enterprise-level validation &amp; security</a:t>
            </a:r>
          </a:p>
          <a:p>
            <a:pPr algn="l">
              <a:lnSpc>
                <a:spcPts val="4065"/>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225008">
            <a:off x="-2632004" y="-3312469"/>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1820287" y="6367114"/>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solidFill>
              <a:srgbClr val="FFFFFF"/>
            </a:solidFill>
          </p:spPr>
        </p:sp>
        <p:sp>
          <p:nvSpPr>
            <p:cNvPr name="TextBox 6" id="6"/>
            <p:cNvSpPr txBox="true"/>
            <p:nvPr/>
          </p:nvSpPr>
          <p:spPr>
            <a:xfrm>
              <a:off x="0" y="-47625"/>
              <a:ext cx="378618" cy="2963713"/>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12114832" y="7024339"/>
            <a:ext cx="6342782" cy="3926292"/>
          </a:xfrm>
          <a:prstGeom prst="rect">
            <a:avLst/>
          </a:prstGeom>
        </p:spPr>
        <p:txBody>
          <a:bodyPr anchor="t" rtlCol="false" tIns="0" lIns="0" bIns="0" rIns="0">
            <a:spAutoFit/>
          </a:bodyPr>
          <a:lstStyle/>
          <a:p>
            <a:pPr algn="ctr">
              <a:lnSpc>
                <a:spcPts val="29189"/>
              </a:lnSpc>
            </a:pPr>
            <a:r>
              <a:rPr lang="en-US" sz="30091">
                <a:solidFill>
                  <a:srgbClr val="FFFFFF"/>
                </a:solidFill>
                <a:latin typeface="Anton"/>
                <a:ea typeface="Anton"/>
                <a:cs typeface="Anton"/>
                <a:sym typeface="Anton"/>
              </a:rPr>
              <a:t>03</a:t>
            </a:r>
          </a:p>
        </p:txBody>
      </p:sp>
      <p:sp>
        <p:nvSpPr>
          <p:cNvPr name="TextBox 8" id="8"/>
          <p:cNvSpPr txBox="true"/>
          <p:nvPr/>
        </p:nvSpPr>
        <p:spPr>
          <a:xfrm rot="0">
            <a:off x="827619" y="1228725"/>
            <a:ext cx="14949005" cy="2166100"/>
          </a:xfrm>
          <a:prstGeom prst="rect">
            <a:avLst/>
          </a:prstGeom>
        </p:spPr>
        <p:txBody>
          <a:bodyPr anchor="t" rtlCol="false" tIns="0" lIns="0" bIns="0" rIns="0">
            <a:spAutoFit/>
          </a:bodyPr>
          <a:lstStyle/>
          <a:p>
            <a:pPr algn="l">
              <a:lnSpc>
                <a:spcPts val="8354"/>
              </a:lnSpc>
            </a:pPr>
            <a:r>
              <a:rPr lang="en-US" sz="8612">
                <a:solidFill>
                  <a:srgbClr val="FFFFFF"/>
                </a:solidFill>
                <a:latin typeface="Anton"/>
                <a:ea typeface="Anton"/>
                <a:cs typeface="Anton"/>
                <a:sym typeface="Anton"/>
              </a:rPr>
              <a:t>SYSTEM  ARCHITECTURE OVERVIEW</a:t>
            </a:r>
          </a:p>
          <a:p>
            <a:pPr algn="l">
              <a:lnSpc>
                <a:spcPts val="8354"/>
              </a:lnSpc>
            </a:pPr>
          </a:p>
        </p:txBody>
      </p:sp>
      <p:sp>
        <p:nvSpPr>
          <p:cNvPr name="TextBox 9" id="9"/>
          <p:cNvSpPr txBox="true"/>
          <p:nvPr/>
        </p:nvSpPr>
        <p:spPr>
          <a:xfrm rot="0">
            <a:off x="1318020" y="3980906"/>
            <a:ext cx="13968203" cy="5643000"/>
          </a:xfrm>
          <a:prstGeom prst="rect">
            <a:avLst/>
          </a:prstGeom>
        </p:spPr>
        <p:txBody>
          <a:bodyPr anchor="t" rtlCol="false" tIns="0" lIns="0" bIns="0" rIns="0">
            <a:spAutoFit/>
          </a:bodyPr>
          <a:lstStyle/>
          <a:p>
            <a:pPr algn="l">
              <a:lnSpc>
                <a:spcPts val="4318"/>
              </a:lnSpc>
            </a:pPr>
            <a:r>
              <a:rPr lang="en-US" b="true" sz="3084">
                <a:solidFill>
                  <a:srgbClr val="FFFFFF"/>
                </a:solidFill>
                <a:latin typeface="Helvetica World Bold"/>
                <a:ea typeface="Helvetica World Bold"/>
                <a:cs typeface="Helvetica World Bold"/>
                <a:sym typeface="Helvetica World Bold"/>
              </a:rPr>
              <a:t>The system follows a Two-Application Architecture Model:</a:t>
            </a:r>
          </a:p>
          <a:p>
            <a:pPr algn="l">
              <a:lnSpc>
                <a:spcPts val="3618"/>
              </a:lnSpc>
            </a:pPr>
          </a:p>
          <a:p>
            <a:pPr algn="l" marL="558023" indent="-279011" lvl="1">
              <a:lnSpc>
                <a:spcPts val="3618"/>
              </a:lnSpc>
              <a:buFont typeface="Arial"/>
              <a:buChar char="•"/>
            </a:pPr>
            <a:r>
              <a:rPr lang="en-US" sz="2584">
                <a:solidFill>
                  <a:srgbClr val="FFFFFF"/>
                </a:solidFill>
                <a:latin typeface="Helvetica World"/>
                <a:ea typeface="Helvetica World"/>
                <a:cs typeface="Helvetica World"/>
                <a:sym typeface="Helvetica World"/>
              </a:rPr>
              <a:t>Frontend Application (Port 8081) – Handles UI and user interaction</a:t>
            </a:r>
          </a:p>
          <a:p>
            <a:pPr algn="l" marL="558023" indent="-279011" lvl="1">
              <a:lnSpc>
                <a:spcPts val="3618"/>
              </a:lnSpc>
              <a:buFont typeface="Arial"/>
              <a:buChar char="•"/>
            </a:pPr>
            <a:r>
              <a:rPr lang="en-US" sz="2584">
                <a:solidFill>
                  <a:srgbClr val="FFFFFF"/>
                </a:solidFill>
                <a:latin typeface="Helvetica World"/>
                <a:ea typeface="Helvetica World"/>
                <a:cs typeface="Helvetica World"/>
                <a:sym typeface="Helvetica World"/>
              </a:rPr>
              <a:t> Backend REST API (Port 8080) – Handles business logic and security</a:t>
            </a:r>
          </a:p>
          <a:p>
            <a:pPr algn="l" marL="558023" indent="-279011" lvl="1">
              <a:lnSpc>
                <a:spcPts val="3618"/>
              </a:lnSpc>
              <a:buFont typeface="Arial"/>
              <a:buChar char="•"/>
            </a:pPr>
            <a:r>
              <a:rPr lang="en-US" sz="2584">
                <a:solidFill>
                  <a:srgbClr val="FFFFFF"/>
                </a:solidFill>
                <a:latin typeface="Helvetica World"/>
                <a:ea typeface="Helvetica World"/>
                <a:cs typeface="Helvetica World"/>
                <a:sym typeface="Helvetica World"/>
              </a:rPr>
              <a:t>Oracle Database – Stores encrypted data securely</a:t>
            </a:r>
          </a:p>
          <a:p>
            <a:pPr algn="l">
              <a:lnSpc>
                <a:spcPts val="3618"/>
              </a:lnSpc>
            </a:pPr>
          </a:p>
          <a:p>
            <a:pPr algn="l">
              <a:lnSpc>
                <a:spcPts val="3618"/>
              </a:lnSpc>
            </a:pPr>
            <a:r>
              <a:rPr lang="en-US" b="true" sz="2584">
                <a:solidFill>
                  <a:srgbClr val="FFFFFF"/>
                </a:solidFill>
                <a:latin typeface="Helvetica World Bold"/>
                <a:ea typeface="Helvetica World Bold"/>
                <a:cs typeface="Helvetica World Bold"/>
                <a:sym typeface="Helvetica World Bold"/>
              </a:rPr>
              <a:t>Communication happens using REST APIs with JSON format.</a:t>
            </a:r>
          </a:p>
          <a:p>
            <a:pPr algn="l">
              <a:lnSpc>
                <a:spcPts val="3618"/>
              </a:lnSpc>
            </a:pPr>
          </a:p>
          <a:p>
            <a:pPr algn="l">
              <a:lnSpc>
                <a:spcPts val="3618"/>
              </a:lnSpc>
            </a:pPr>
            <a:r>
              <a:rPr lang="en-US" sz="2584">
                <a:solidFill>
                  <a:srgbClr val="FFFFFF"/>
                </a:solidFill>
                <a:latin typeface="Helvetica World"/>
                <a:ea typeface="Helvetica World"/>
                <a:cs typeface="Helvetica World"/>
                <a:sym typeface="Helvetica World"/>
              </a:rPr>
              <a:t>Flow:</a:t>
            </a:r>
          </a:p>
          <a:p>
            <a:pPr algn="l">
              <a:lnSpc>
                <a:spcPts val="3618"/>
              </a:lnSpc>
            </a:pPr>
            <a:r>
              <a:rPr lang="en-US" sz="2584">
                <a:solidFill>
                  <a:srgbClr val="FFFFFF"/>
                </a:solidFill>
                <a:latin typeface="Helvetica World"/>
                <a:ea typeface="Helvetica World"/>
                <a:cs typeface="Helvetica World"/>
                <a:sym typeface="Helvetica World"/>
              </a:rPr>
              <a:t> Browser → Frontend → Backend → Database</a:t>
            </a:r>
          </a:p>
          <a:p>
            <a:pPr algn="l">
              <a:lnSpc>
                <a:spcPts val="3618"/>
              </a:lnSpc>
            </a:pPr>
            <a:r>
              <a:rPr lang="en-US" sz="2584">
                <a:solidFill>
                  <a:srgbClr val="FFFFFF"/>
                </a:solidFill>
                <a:latin typeface="Helvetica World"/>
                <a:ea typeface="Helvetica World"/>
                <a:cs typeface="Helvetica World"/>
                <a:sym typeface="Helvetica World"/>
              </a:rPr>
              <a:t>This ensures separation between UI and core logic.</a:t>
            </a:r>
          </a:p>
          <a:p>
            <a:pPr algn="l">
              <a:lnSpc>
                <a:spcPts val="3618"/>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225008">
            <a:off x="-2632004" y="-3312469"/>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grpSp>
        <p:nvGrpSpPr>
          <p:cNvPr name="Group 3" id="3"/>
          <p:cNvGrpSpPr/>
          <p:nvPr/>
        </p:nvGrpSpPr>
        <p:grpSpPr>
          <a:xfrm rot="0">
            <a:off x="17259300" y="-392510"/>
            <a:ext cx="1437565" cy="11072020"/>
            <a:chOff x="0" y="0"/>
            <a:chExt cx="378618" cy="2916088"/>
          </a:xfrm>
        </p:grpSpPr>
        <p:sp>
          <p:nvSpPr>
            <p:cNvPr name="Freeform 4" id="4"/>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solidFill>
              <a:srgbClr val="FFFFFF"/>
            </a:solidFill>
          </p:spPr>
        </p:sp>
        <p:sp>
          <p:nvSpPr>
            <p:cNvPr name="TextBox 5" id="5"/>
            <p:cNvSpPr txBox="true"/>
            <p:nvPr/>
          </p:nvSpPr>
          <p:spPr>
            <a:xfrm>
              <a:off x="0" y="-47625"/>
              <a:ext cx="378618" cy="2963713"/>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028700" y="2360181"/>
            <a:ext cx="12314452" cy="7591729"/>
          </a:xfrm>
          <a:custGeom>
            <a:avLst/>
            <a:gdLst/>
            <a:ahLst/>
            <a:cxnLst/>
            <a:rect r="r" b="b" t="t" l="l"/>
            <a:pathLst>
              <a:path h="7591729" w="12314452">
                <a:moveTo>
                  <a:pt x="0" y="0"/>
                </a:moveTo>
                <a:lnTo>
                  <a:pt x="12314452" y="0"/>
                </a:lnTo>
                <a:lnTo>
                  <a:pt x="12314452" y="7591729"/>
                </a:lnTo>
                <a:lnTo>
                  <a:pt x="0" y="7591729"/>
                </a:lnTo>
                <a:lnTo>
                  <a:pt x="0" y="0"/>
                </a:lnTo>
                <a:close/>
              </a:path>
            </a:pathLst>
          </a:custGeom>
          <a:blipFill>
            <a:blip r:embed="rId3"/>
            <a:stretch>
              <a:fillRect l="-797" t="0" r="-797" b="0"/>
            </a:stretch>
          </a:blipFill>
        </p:spPr>
      </p:sp>
      <p:sp>
        <p:nvSpPr>
          <p:cNvPr name="TextBox 7" id="7"/>
          <p:cNvSpPr txBox="true"/>
          <p:nvPr/>
        </p:nvSpPr>
        <p:spPr>
          <a:xfrm rot="0">
            <a:off x="13005272" y="7253552"/>
            <a:ext cx="5113183" cy="3161566"/>
          </a:xfrm>
          <a:prstGeom prst="rect">
            <a:avLst/>
          </a:prstGeom>
        </p:spPr>
        <p:txBody>
          <a:bodyPr anchor="t" rtlCol="false" tIns="0" lIns="0" bIns="0" rIns="0">
            <a:spAutoFit/>
          </a:bodyPr>
          <a:lstStyle/>
          <a:p>
            <a:pPr algn="ctr">
              <a:lnSpc>
                <a:spcPts val="23530"/>
              </a:lnSpc>
            </a:pPr>
            <a:r>
              <a:rPr lang="en-US" sz="24258">
                <a:solidFill>
                  <a:srgbClr val="FFFFFF"/>
                </a:solidFill>
                <a:latin typeface="Anton"/>
                <a:ea typeface="Anton"/>
                <a:cs typeface="Anton"/>
                <a:sym typeface="Anton"/>
              </a:rPr>
              <a:t>04</a:t>
            </a:r>
          </a:p>
        </p:txBody>
      </p:sp>
      <p:sp>
        <p:nvSpPr>
          <p:cNvPr name="TextBox 8" id="8"/>
          <p:cNvSpPr txBox="true"/>
          <p:nvPr/>
        </p:nvSpPr>
        <p:spPr>
          <a:xfrm rot="0">
            <a:off x="695069" y="567387"/>
            <a:ext cx="14458604" cy="1084938"/>
          </a:xfrm>
          <a:prstGeom prst="rect">
            <a:avLst/>
          </a:prstGeom>
        </p:spPr>
        <p:txBody>
          <a:bodyPr anchor="t" rtlCol="false" tIns="0" lIns="0" bIns="0" rIns="0">
            <a:spAutoFit/>
          </a:bodyPr>
          <a:lstStyle/>
          <a:p>
            <a:pPr algn="l">
              <a:lnSpc>
                <a:spcPts val="8080"/>
              </a:lnSpc>
            </a:pPr>
            <a:r>
              <a:rPr lang="en-US" sz="8330">
                <a:solidFill>
                  <a:srgbClr val="FFFFFF"/>
                </a:solidFill>
                <a:latin typeface="Anton"/>
                <a:ea typeface="Anton"/>
                <a:cs typeface="Anton"/>
                <a:sym typeface="Anton"/>
              </a:rPr>
              <a:t>SYSTEM  ARCHITECTURE DIAGRAM</a:t>
            </a:r>
          </a:p>
        </p:txBody>
      </p:sp>
      <p:sp>
        <p:nvSpPr>
          <p:cNvPr name="TextBox 9" id="9"/>
          <p:cNvSpPr txBox="true"/>
          <p:nvPr/>
        </p:nvSpPr>
        <p:spPr>
          <a:xfrm rot="0">
            <a:off x="695069" y="2312556"/>
            <a:ext cx="8056921" cy="438786"/>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Helvetica World"/>
                <a:ea typeface="Helvetica World"/>
                <a:cs typeface="Helvetica World"/>
                <a:sym typeface="Helvetica World"/>
              </a:rPr>
              <a:t>Fr</a:t>
            </a:r>
            <a:r>
              <a:rPr lang="en-US" sz="2599">
                <a:solidFill>
                  <a:srgbClr val="000000"/>
                </a:solidFill>
                <a:latin typeface="Helvetica World"/>
                <a:ea typeface="Helvetica World"/>
                <a:cs typeface="Helvetica World"/>
                <a:sym typeface="Helvetica World"/>
              </a:rPr>
              <a:t>ontend to backend communication architecture</a:t>
            </a:r>
          </a:p>
        </p:txBody>
      </p:sp>
      <p:sp>
        <p:nvSpPr>
          <p:cNvPr name="TextBox 10" id="10"/>
          <p:cNvSpPr txBox="true"/>
          <p:nvPr/>
        </p:nvSpPr>
        <p:spPr>
          <a:xfrm rot="0">
            <a:off x="1145024" y="4900295"/>
            <a:ext cx="4671431" cy="438786"/>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Helvetica World"/>
                <a:ea typeface="Helvetica World"/>
                <a:cs typeface="Helvetica World"/>
                <a:sym typeface="Helvetica World"/>
              </a:rPr>
              <a:t>Laye</a:t>
            </a:r>
            <a:r>
              <a:rPr lang="en-US" sz="2599">
                <a:solidFill>
                  <a:srgbClr val="000000"/>
                </a:solidFill>
                <a:latin typeface="Helvetica World"/>
                <a:ea typeface="Helvetica World"/>
                <a:cs typeface="Helvetica World"/>
                <a:sym typeface="Helvetica World"/>
              </a:rPr>
              <a:t>red backend architecture</a:t>
            </a:r>
          </a:p>
        </p:txBody>
      </p:sp>
      <p:sp>
        <p:nvSpPr>
          <p:cNvPr name="TextBox 11" id="11"/>
          <p:cNvSpPr txBox="true"/>
          <p:nvPr/>
        </p:nvSpPr>
        <p:spPr>
          <a:xfrm rot="0">
            <a:off x="1328048" y="6612362"/>
            <a:ext cx="5167312" cy="438786"/>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Helvetica World"/>
                <a:ea typeface="Helvetica World"/>
                <a:cs typeface="Helvetica World"/>
                <a:sym typeface="Helvetica World"/>
              </a:rPr>
              <a:t>Applicati</a:t>
            </a:r>
            <a:r>
              <a:rPr lang="en-US" sz="2599">
                <a:solidFill>
                  <a:srgbClr val="000000"/>
                </a:solidFill>
                <a:latin typeface="Helvetica World"/>
                <a:ea typeface="Helvetica World"/>
                <a:cs typeface="Helvetica World"/>
                <a:sym typeface="Helvetica World"/>
              </a:rPr>
              <a:t>on startup flow architecture</a:t>
            </a:r>
          </a:p>
        </p:txBody>
      </p:sp>
      <p:sp>
        <p:nvSpPr>
          <p:cNvPr name="TextBox 12" id="12"/>
          <p:cNvSpPr txBox="true"/>
          <p:nvPr/>
        </p:nvSpPr>
        <p:spPr>
          <a:xfrm rot="0">
            <a:off x="231128" y="8327497"/>
            <a:ext cx="4492402" cy="438786"/>
          </a:xfrm>
          <a:prstGeom prst="rect">
            <a:avLst/>
          </a:prstGeom>
        </p:spPr>
        <p:txBody>
          <a:bodyPr anchor="t" rtlCol="false" tIns="0" lIns="0" bIns="0" rIns="0">
            <a:spAutoFit/>
          </a:bodyPr>
          <a:lstStyle/>
          <a:p>
            <a:pPr algn="ctr">
              <a:lnSpc>
                <a:spcPts val="3639"/>
              </a:lnSpc>
              <a:spcBef>
                <a:spcPct val="0"/>
              </a:spcBef>
            </a:pPr>
            <a:r>
              <a:rPr lang="en-US" sz="2599">
                <a:solidFill>
                  <a:srgbClr val="000000"/>
                </a:solidFill>
                <a:latin typeface="Helvetica World"/>
                <a:ea typeface="Helvetica World"/>
                <a:cs typeface="Helvetica World"/>
                <a:sym typeface="Helvetica World"/>
              </a:rPr>
              <a:t>L</a:t>
            </a:r>
            <a:r>
              <a:rPr lang="en-US" sz="2599">
                <a:solidFill>
                  <a:srgbClr val="000000"/>
                </a:solidFill>
                <a:latin typeface="Helvetica World"/>
                <a:ea typeface="Helvetica World"/>
                <a:cs typeface="Helvetica World"/>
                <a:sym typeface="Helvetica World"/>
              </a:rPr>
              <a:t>ogin page flow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225008">
            <a:off x="-2274540" y="-3570637"/>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177751" y="6108945"/>
            <a:ext cx="11514218" cy="8506128"/>
          </a:xfrm>
          <a:custGeom>
            <a:avLst/>
            <a:gdLst/>
            <a:ahLst/>
            <a:cxnLst/>
            <a:rect r="r" b="b" t="t" l="l"/>
            <a:pathLst>
              <a:path h="8506128" w="11514218">
                <a:moveTo>
                  <a:pt x="0" y="0"/>
                </a:moveTo>
                <a:lnTo>
                  <a:pt x="11514217" y="0"/>
                </a:lnTo>
                <a:lnTo>
                  <a:pt x="11514217"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616764" y="-650678"/>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solidFill>
              <a:srgbClr val="FFFFFF"/>
            </a:solidFill>
          </p:spPr>
        </p:sp>
        <p:sp>
          <p:nvSpPr>
            <p:cNvPr name="TextBox 6" id="6"/>
            <p:cNvSpPr txBox="true"/>
            <p:nvPr/>
          </p:nvSpPr>
          <p:spPr>
            <a:xfrm>
              <a:off x="0" y="-47625"/>
              <a:ext cx="378618" cy="2963713"/>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780878" y="2398113"/>
            <a:ext cx="12302087" cy="7299405"/>
          </a:xfrm>
          <a:custGeom>
            <a:avLst/>
            <a:gdLst/>
            <a:ahLst/>
            <a:cxnLst/>
            <a:rect r="r" b="b" t="t" l="l"/>
            <a:pathLst>
              <a:path h="7299405" w="12302087">
                <a:moveTo>
                  <a:pt x="0" y="0"/>
                </a:moveTo>
                <a:lnTo>
                  <a:pt x="12302087" y="0"/>
                </a:lnTo>
                <a:lnTo>
                  <a:pt x="12302087" y="7299405"/>
                </a:lnTo>
                <a:lnTo>
                  <a:pt x="0" y="7299405"/>
                </a:lnTo>
                <a:lnTo>
                  <a:pt x="0" y="0"/>
                </a:lnTo>
                <a:close/>
              </a:path>
            </a:pathLst>
          </a:custGeom>
          <a:blipFill>
            <a:blip r:embed="rId4"/>
            <a:stretch>
              <a:fillRect l="0" t="0" r="0" b="0"/>
            </a:stretch>
          </a:blipFill>
        </p:spPr>
      </p:sp>
      <p:sp>
        <p:nvSpPr>
          <p:cNvPr name="TextBox 8" id="8"/>
          <p:cNvSpPr txBox="true"/>
          <p:nvPr/>
        </p:nvSpPr>
        <p:spPr>
          <a:xfrm rot="0">
            <a:off x="12472296" y="6766170"/>
            <a:ext cx="6342782" cy="3926292"/>
          </a:xfrm>
          <a:prstGeom prst="rect">
            <a:avLst/>
          </a:prstGeom>
        </p:spPr>
        <p:txBody>
          <a:bodyPr anchor="t" rtlCol="false" tIns="0" lIns="0" bIns="0" rIns="0">
            <a:spAutoFit/>
          </a:bodyPr>
          <a:lstStyle/>
          <a:p>
            <a:pPr algn="ctr">
              <a:lnSpc>
                <a:spcPts val="29189"/>
              </a:lnSpc>
            </a:pPr>
            <a:r>
              <a:rPr lang="en-US" sz="30091">
                <a:solidFill>
                  <a:srgbClr val="FFFFFF"/>
                </a:solidFill>
                <a:latin typeface="Anton"/>
                <a:ea typeface="Anton"/>
                <a:cs typeface="Anton"/>
                <a:sym typeface="Anton"/>
              </a:rPr>
              <a:t>05</a:t>
            </a:r>
          </a:p>
        </p:txBody>
      </p:sp>
      <p:sp>
        <p:nvSpPr>
          <p:cNvPr name="TextBox 9" id="9"/>
          <p:cNvSpPr txBox="true"/>
          <p:nvPr/>
        </p:nvSpPr>
        <p:spPr>
          <a:xfrm rot="0">
            <a:off x="1185083" y="970557"/>
            <a:ext cx="14949005" cy="1108825"/>
          </a:xfrm>
          <a:prstGeom prst="rect">
            <a:avLst/>
          </a:prstGeom>
        </p:spPr>
        <p:txBody>
          <a:bodyPr anchor="t" rtlCol="false" tIns="0" lIns="0" bIns="0" rIns="0">
            <a:spAutoFit/>
          </a:bodyPr>
          <a:lstStyle/>
          <a:p>
            <a:pPr algn="l">
              <a:lnSpc>
                <a:spcPts val="8354"/>
              </a:lnSpc>
            </a:pPr>
            <a:r>
              <a:rPr lang="en-US" sz="8612">
                <a:solidFill>
                  <a:srgbClr val="FFFFFF"/>
                </a:solidFill>
                <a:latin typeface="Anton"/>
                <a:ea typeface="Anton"/>
                <a:cs typeface="Anton"/>
                <a:sym typeface="Anton"/>
              </a:rPr>
              <a:t>USE CASE DIAGRAM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225008">
            <a:off x="-2632004" y="-3312469"/>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1820287" y="6367114"/>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solidFill>
              <a:srgbClr val="FFFFFF"/>
            </a:solidFill>
          </p:spPr>
        </p:sp>
        <p:sp>
          <p:nvSpPr>
            <p:cNvPr name="TextBox 6" id="6"/>
            <p:cNvSpPr txBox="true"/>
            <p:nvPr/>
          </p:nvSpPr>
          <p:spPr>
            <a:xfrm>
              <a:off x="0" y="-47625"/>
              <a:ext cx="378618" cy="2963713"/>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675210" y="2635436"/>
            <a:ext cx="12390995" cy="6226140"/>
          </a:xfrm>
          <a:custGeom>
            <a:avLst/>
            <a:gdLst/>
            <a:ahLst/>
            <a:cxnLst/>
            <a:rect r="r" b="b" t="t" l="l"/>
            <a:pathLst>
              <a:path h="6226140" w="12390995">
                <a:moveTo>
                  <a:pt x="0" y="0"/>
                </a:moveTo>
                <a:lnTo>
                  <a:pt x="12390994" y="0"/>
                </a:lnTo>
                <a:lnTo>
                  <a:pt x="12390994" y="6226140"/>
                </a:lnTo>
                <a:lnTo>
                  <a:pt x="0" y="6226140"/>
                </a:lnTo>
                <a:lnTo>
                  <a:pt x="0" y="0"/>
                </a:lnTo>
                <a:close/>
              </a:path>
            </a:pathLst>
          </a:custGeom>
          <a:blipFill>
            <a:blip r:embed="rId4"/>
            <a:stretch>
              <a:fillRect l="-5449" t="-4784" r="-4808" b="-6698"/>
            </a:stretch>
          </a:blipFill>
        </p:spPr>
      </p:sp>
      <p:sp>
        <p:nvSpPr>
          <p:cNvPr name="TextBox 8" id="8"/>
          <p:cNvSpPr txBox="true"/>
          <p:nvPr/>
        </p:nvSpPr>
        <p:spPr>
          <a:xfrm rot="0">
            <a:off x="12114832" y="7024339"/>
            <a:ext cx="6342782" cy="3926292"/>
          </a:xfrm>
          <a:prstGeom prst="rect">
            <a:avLst/>
          </a:prstGeom>
        </p:spPr>
        <p:txBody>
          <a:bodyPr anchor="t" rtlCol="false" tIns="0" lIns="0" bIns="0" rIns="0">
            <a:spAutoFit/>
          </a:bodyPr>
          <a:lstStyle/>
          <a:p>
            <a:pPr algn="ctr">
              <a:lnSpc>
                <a:spcPts val="29189"/>
              </a:lnSpc>
            </a:pPr>
            <a:r>
              <a:rPr lang="en-US" sz="30091">
                <a:solidFill>
                  <a:srgbClr val="FFFFFF"/>
                </a:solidFill>
                <a:latin typeface="Anton"/>
                <a:ea typeface="Anton"/>
                <a:cs typeface="Anton"/>
                <a:sym typeface="Anton"/>
              </a:rPr>
              <a:t>06</a:t>
            </a:r>
          </a:p>
        </p:txBody>
      </p:sp>
      <p:sp>
        <p:nvSpPr>
          <p:cNvPr name="TextBox 9" id="9"/>
          <p:cNvSpPr txBox="true"/>
          <p:nvPr/>
        </p:nvSpPr>
        <p:spPr>
          <a:xfrm rot="0">
            <a:off x="827619" y="1228725"/>
            <a:ext cx="14949005" cy="1108825"/>
          </a:xfrm>
          <a:prstGeom prst="rect">
            <a:avLst/>
          </a:prstGeom>
        </p:spPr>
        <p:txBody>
          <a:bodyPr anchor="t" rtlCol="false" tIns="0" lIns="0" bIns="0" rIns="0">
            <a:spAutoFit/>
          </a:bodyPr>
          <a:lstStyle/>
          <a:p>
            <a:pPr algn="l">
              <a:lnSpc>
                <a:spcPts val="8354"/>
              </a:lnSpc>
            </a:pPr>
            <a:r>
              <a:rPr lang="en-US" sz="8612">
                <a:solidFill>
                  <a:srgbClr val="FFFFFF"/>
                </a:solidFill>
                <a:latin typeface="Anton"/>
                <a:ea typeface="Anton"/>
                <a:cs typeface="Anton"/>
                <a:sym typeface="Anton"/>
              </a:rPr>
              <a:t>ER DIAGRAM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225008">
            <a:off x="11545995" y="7595902"/>
            <a:ext cx="12701350" cy="5382197"/>
          </a:xfrm>
          <a:custGeom>
            <a:avLst/>
            <a:gdLst/>
            <a:ahLst/>
            <a:cxnLst/>
            <a:rect r="r" b="b" t="t" l="l"/>
            <a:pathLst>
              <a:path h="5382197" w="12701350">
                <a:moveTo>
                  <a:pt x="0" y="0"/>
                </a:moveTo>
                <a:lnTo>
                  <a:pt x="12701349" y="0"/>
                </a:lnTo>
                <a:lnTo>
                  <a:pt x="12701349" y="5382196"/>
                </a:lnTo>
                <a:lnTo>
                  <a:pt x="0" y="5382196"/>
                </a:lnTo>
                <a:lnTo>
                  <a:pt x="0" y="0"/>
                </a:lnTo>
                <a:close/>
              </a:path>
            </a:pathLst>
          </a:custGeom>
          <a:blipFill>
            <a:blip r:embed="rId2"/>
            <a:stretch>
              <a:fillRect l="0" t="0" r="0" b="0"/>
            </a:stretch>
          </a:blipFill>
        </p:spPr>
      </p:sp>
      <p:sp>
        <p:nvSpPr>
          <p:cNvPr name="Freeform 3" id="3"/>
          <p:cNvSpPr/>
          <p:nvPr/>
        </p:nvSpPr>
        <p:spPr>
          <a:xfrm flipH="false" flipV="false" rot="1784357">
            <a:off x="-1050172" y="-2443738"/>
            <a:ext cx="8162799" cy="4887476"/>
          </a:xfrm>
          <a:custGeom>
            <a:avLst/>
            <a:gdLst/>
            <a:ahLst/>
            <a:cxnLst/>
            <a:rect r="r" b="b" t="t" l="l"/>
            <a:pathLst>
              <a:path h="4887476" w="8162799">
                <a:moveTo>
                  <a:pt x="0" y="0"/>
                </a:moveTo>
                <a:lnTo>
                  <a:pt x="8162799" y="0"/>
                </a:lnTo>
                <a:lnTo>
                  <a:pt x="8162799" y="4887476"/>
                </a:lnTo>
                <a:lnTo>
                  <a:pt x="0" y="4887476"/>
                </a:lnTo>
                <a:lnTo>
                  <a:pt x="0" y="0"/>
                </a:lnTo>
                <a:close/>
              </a:path>
            </a:pathLst>
          </a:custGeom>
          <a:blipFill>
            <a:blip r:embed="rId3"/>
            <a:stretch>
              <a:fillRect l="0" t="0" r="0" b="0"/>
            </a:stretch>
          </a:blipFill>
        </p:spPr>
      </p:sp>
      <p:grpSp>
        <p:nvGrpSpPr>
          <p:cNvPr name="Group 4" id="4"/>
          <p:cNvGrpSpPr/>
          <p:nvPr/>
        </p:nvGrpSpPr>
        <p:grpSpPr>
          <a:xfrm rot="0">
            <a:off x="0" y="-392510"/>
            <a:ext cx="1507657" cy="11072020"/>
            <a:chOff x="0" y="0"/>
            <a:chExt cx="397078" cy="2916088"/>
          </a:xfrm>
        </p:grpSpPr>
        <p:sp>
          <p:nvSpPr>
            <p:cNvPr name="Freeform 5" id="5"/>
            <p:cNvSpPr/>
            <p:nvPr/>
          </p:nvSpPr>
          <p:spPr>
            <a:xfrm flipH="false" flipV="false" rot="0">
              <a:off x="0" y="0"/>
              <a:ext cx="397078" cy="2916088"/>
            </a:xfrm>
            <a:custGeom>
              <a:avLst/>
              <a:gdLst/>
              <a:ahLst/>
              <a:cxnLst/>
              <a:rect r="r" b="b" t="t" l="l"/>
              <a:pathLst>
                <a:path h="2916088" w="397078">
                  <a:moveTo>
                    <a:pt x="0" y="0"/>
                  </a:moveTo>
                  <a:lnTo>
                    <a:pt x="397078" y="0"/>
                  </a:lnTo>
                  <a:lnTo>
                    <a:pt x="397078" y="2916088"/>
                  </a:lnTo>
                  <a:lnTo>
                    <a:pt x="0" y="2916088"/>
                  </a:lnTo>
                  <a:close/>
                </a:path>
              </a:pathLst>
            </a:custGeom>
            <a:solidFill>
              <a:srgbClr val="FFFFFF"/>
            </a:solidFill>
          </p:spPr>
        </p:sp>
        <p:sp>
          <p:nvSpPr>
            <p:cNvPr name="TextBox 6" id="6"/>
            <p:cNvSpPr txBox="true"/>
            <p:nvPr/>
          </p:nvSpPr>
          <p:spPr>
            <a:xfrm>
              <a:off x="0" y="-47625"/>
              <a:ext cx="397078" cy="2963713"/>
            </a:xfrm>
            <a:prstGeom prst="rect">
              <a:avLst/>
            </a:prstGeom>
          </p:spPr>
          <p:txBody>
            <a:bodyPr anchor="ctr" rtlCol="false" tIns="50800" lIns="50800" bIns="50800" rIns="50800"/>
            <a:lstStyle/>
            <a:p>
              <a:pPr algn="ctr">
                <a:lnSpc>
                  <a:spcPts val="3639"/>
                </a:lnSpc>
              </a:pPr>
            </a:p>
          </p:txBody>
        </p:sp>
      </p:grpSp>
      <p:grpSp>
        <p:nvGrpSpPr>
          <p:cNvPr name="Group 7" id="7"/>
          <p:cNvGrpSpPr/>
          <p:nvPr/>
        </p:nvGrpSpPr>
        <p:grpSpPr>
          <a:xfrm rot="0">
            <a:off x="8643938" y="497663"/>
            <a:ext cx="333375" cy="333375"/>
            <a:chOff x="0" y="0"/>
            <a:chExt cx="87802" cy="87802"/>
          </a:xfrm>
        </p:grpSpPr>
        <p:sp>
          <p:nvSpPr>
            <p:cNvPr name="Freeform 8" id="8"/>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solidFill>
              <a:srgbClr val="FFFFFF"/>
            </a:solidFill>
          </p:spPr>
        </p:sp>
        <p:sp>
          <p:nvSpPr>
            <p:cNvPr name="TextBox 9" id="9"/>
            <p:cNvSpPr txBox="true"/>
            <p:nvPr/>
          </p:nvSpPr>
          <p:spPr>
            <a:xfrm>
              <a:off x="0" y="-47625"/>
              <a:ext cx="87802" cy="135427"/>
            </a:xfrm>
            <a:prstGeom prst="rect">
              <a:avLst/>
            </a:prstGeom>
          </p:spPr>
          <p:txBody>
            <a:bodyPr anchor="ctr" rtlCol="false" tIns="50800" lIns="50800" bIns="50800" rIns="50800"/>
            <a:lstStyle/>
            <a:p>
              <a:pPr algn="ctr">
                <a:lnSpc>
                  <a:spcPts val="3639"/>
                </a:lnSpc>
              </a:pPr>
            </a:p>
          </p:txBody>
        </p:sp>
      </p:grpSp>
      <p:grpSp>
        <p:nvGrpSpPr>
          <p:cNvPr name="Group 10" id="10"/>
          <p:cNvGrpSpPr/>
          <p:nvPr/>
        </p:nvGrpSpPr>
        <p:grpSpPr>
          <a:xfrm rot="0">
            <a:off x="8810625" y="3021335"/>
            <a:ext cx="333375" cy="333375"/>
            <a:chOff x="0" y="0"/>
            <a:chExt cx="87802" cy="87802"/>
          </a:xfrm>
        </p:grpSpPr>
        <p:sp>
          <p:nvSpPr>
            <p:cNvPr name="Freeform 11" id="11"/>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solidFill>
              <a:srgbClr val="FFFFFF"/>
            </a:solidFill>
          </p:spPr>
        </p:sp>
        <p:sp>
          <p:nvSpPr>
            <p:cNvPr name="TextBox 12" id="12"/>
            <p:cNvSpPr txBox="true"/>
            <p:nvPr/>
          </p:nvSpPr>
          <p:spPr>
            <a:xfrm>
              <a:off x="0" y="-47625"/>
              <a:ext cx="87802" cy="135427"/>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497860" y="245665"/>
            <a:ext cx="6076047" cy="3752590"/>
          </a:xfrm>
          <a:prstGeom prst="rect">
            <a:avLst/>
          </a:prstGeom>
        </p:spPr>
        <p:txBody>
          <a:bodyPr anchor="t" rtlCol="false" tIns="0" lIns="0" bIns="0" rIns="0">
            <a:spAutoFit/>
          </a:bodyPr>
          <a:lstStyle/>
          <a:p>
            <a:pPr algn="ctr">
              <a:lnSpc>
                <a:spcPts val="27961"/>
              </a:lnSpc>
            </a:pPr>
            <a:r>
              <a:rPr lang="en-US" sz="28826">
                <a:solidFill>
                  <a:srgbClr val="FFFFFF"/>
                </a:solidFill>
                <a:latin typeface="Anton"/>
                <a:ea typeface="Anton"/>
                <a:cs typeface="Anton"/>
                <a:sym typeface="Anton"/>
              </a:rPr>
              <a:t>07</a:t>
            </a:r>
          </a:p>
        </p:txBody>
      </p:sp>
      <p:sp>
        <p:nvSpPr>
          <p:cNvPr name="TextBox 14" id="14"/>
          <p:cNvSpPr txBox="true"/>
          <p:nvPr/>
        </p:nvSpPr>
        <p:spPr>
          <a:xfrm rot="0">
            <a:off x="3105732" y="6241412"/>
            <a:ext cx="9737167" cy="2349251"/>
          </a:xfrm>
          <a:prstGeom prst="rect">
            <a:avLst/>
          </a:prstGeom>
        </p:spPr>
        <p:txBody>
          <a:bodyPr anchor="t" rtlCol="false" tIns="0" lIns="0" bIns="0" rIns="0">
            <a:spAutoFit/>
          </a:bodyPr>
          <a:lstStyle/>
          <a:p>
            <a:pPr algn="l">
              <a:lnSpc>
                <a:spcPts val="9059"/>
              </a:lnSpc>
            </a:pPr>
            <a:r>
              <a:rPr lang="en-US" sz="9339">
                <a:solidFill>
                  <a:srgbClr val="FFFFFF"/>
                </a:solidFill>
                <a:latin typeface="Anton"/>
                <a:ea typeface="Anton"/>
                <a:cs typeface="Anton"/>
                <a:sym typeface="Anton"/>
              </a:rPr>
              <a:t>DETAILED ARCHITECTURE LAYERS</a:t>
            </a:r>
          </a:p>
        </p:txBody>
      </p:sp>
      <p:sp>
        <p:nvSpPr>
          <p:cNvPr name="TextBox 15" id="15"/>
          <p:cNvSpPr txBox="true"/>
          <p:nvPr/>
        </p:nvSpPr>
        <p:spPr>
          <a:xfrm rot="0">
            <a:off x="9491052" y="320894"/>
            <a:ext cx="9755709" cy="2481528"/>
          </a:xfrm>
          <a:prstGeom prst="rect">
            <a:avLst/>
          </a:prstGeom>
        </p:spPr>
        <p:txBody>
          <a:bodyPr anchor="t" rtlCol="false" tIns="0" lIns="0" bIns="0" rIns="0">
            <a:spAutoFit/>
          </a:bodyPr>
          <a:lstStyle/>
          <a:p>
            <a:pPr algn="just">
              <a:lnSpc>
                <a:spcPts val="3607"/>
              </a:lnSpc>
            </a:pPr>
            <a:r>
              <a:rPr lang="en-US" b="true" sz="2577">
                <a:solidFill>
                  <a:srgbClr val="FFFFFF"/>
                </a:solidFill>
                <a:latin typeface="Helvetica World Bold"/>
                <a:ea typeface="Helvetica World Bold"/>
                <a:cs typeface="Helvetica World Bold"/>
                <a:sym typeface="Helvetica World Bold"/>
              </a:rPr>
              <a:t>Frontend Application:</a:t>
            </a:r>
          </a:p>
          <a:p>
            <a:pPr algn="l" marL="491616" indent="-245808" lvl="1">
              <a:lnSpc>
                <a:spcPts val="3187"/>
              </a:lnSpc>
              <a:buFont typeface="Arial"/>
              <a:buChar char="•"/>
            </a:pPr>
            <a:r>
              <a:rPr lang="en-US" sz="2277">
                <a:solidFill>
                  <a:srgbClr val="FFFFFF"/>
                </a:solidFill>
                <a:latin typeface="Helvetica World"/>
                <a:ea typeface="Helvetica World"/>
                <a:cs typeface="Helvetica World"/>
                <a:sym typeface="Helvetica World"/>
              </a:rPr>
              <a:t>Built using Thymeleaf for dynamic UI rendering</a:t>
            </a:r>
          </a:p>
          <a:p>
            <a:pPr algn="l" marL="491616" indent="-245808" lvl="1">
              <a:lnSpc>
                <a:spcPts val="3187"/>
              </a:lnSpc>
              <a:buFont typeface="Arial"/>
              <a:buChar char="•"/>
            </a:pPr>
            <a:r>
              <a:rPr lang="en-US" sz="2277">
                <a:solidFill>
                  <a:srgbClr val="FFFFFF"/>
                </a:solidFill>
                <a:latin typeface="Helvetica World"/>
                <a:ea typeface="Helvetica World"/>
                <a:cs typeface="Helvetica World"/>
                <a:sym typeface="Helvetica World"/>
              </a:rPr>
              <a:t>Bootstrap used for responsive UI design</a:t>
            </a:r>
          </a:p>
          <a:p>
            <a:pPr algn="l" marL="491616" indent="-245808" lvl="1">
              <a:lnSpc>
                <a:spcPts val="3187"/>
              </a:lnSpc>
              <a:buFont typeface="Arial"/>
              <a:buChar char="•"/>
            </a:pPr>
            <a:r>
              <a:rPr lang="en-US" sz="2277">
                <a:solidFill>
                  <a:srgbClr val="FFFFFF"/>
                </a:solidFill>
                <a:latin typeface="Helvetica World"/>
                <a:ea typeface="Helvetica World"/>
                <a:cs typeface="Helvetica World"/>
                <a:sym typeface="Helvetica World"/>
              </a:rPr>
              <a:t>Client-side validation for better user experience</a:t>
            </a:r>
          </a:p>
          <a:p>
            <a:pPr algn="l" marL="491616" indent="-245808" lvl="1">
              <a:lnSpc>
                <a:spcPts val="3187"/>
              </a:lnSpc>
              <a:buFont typeface="Arial"/>
              <a:buChar char="•"/>
            </a:pPr>
            <a:r>
              <a:rPr lang="en-US" sz="2277">
                <a:solidFill>
                  <a:srgbClr val="FFFFFF"/>
                </a:solidFill>
                <a:latin typeface="Helvetica World"/>
                <a:ea typeface="Helvetica World"/>
                <a:cs typeface="Helvetica World"/>
                <a:sym typeface="Helvetica World"/>
              </a:rPr>
              <a:t>REST API c</a:t>
            </a:r>
            <a:r>
              <a:rPr lang="en-US" sz="2277">
                <a:solidFill>
                  <a:srgbClr val="FFFFFF"/>
                </a:solidFill>
                <a:latin typeface="Helvetica World"/>
                <a:ea typeface="Helvetica World"/>
                <a:cs typeface="Helvetica World"/>
                <a:sym typeface="Helvetica World"/>
              </a:rPr>
              <a:t>alls made using RestTemplate</a:t>
            </a:r>
          </a:p>
          <a:p>
            <a:pPr algn="just">
              <a:lnSpc>
                <a:spcPts val="3187"/>
              </a:lnSpc>
              <a:spcBef>
                <a:spcPct val="0"/>
              </a:spcBef>
            </a:pPr>
          </a:p>
        </p:txBody>
      </p:sp>
      <p:sp>
        <p:nvSpPr>
          <p:cNvPr name="TextBox 16" id="16"/>
          <p:cNvSpPr txBox="true"/>
          <p:nvPr/>
        </p:nvSpPr>
        <p:spPr>
          <a:xfrm rot="0">
            <a:off x="9491052" y="2942942"/>
            <a:ext cx="7293507" cy="2790360"/>
          </a:xfrm>
          <a:prstGeom prst="rect">
            <a:avLst/>
          </a:prstGeom>
        </p:spPr>
        <p:txBody>
          <a:bodyPr anchor="t" rtlCol="false" tIns="0" lIns="0" bIns="0" rIns="0">
            <a:spAutoFit/>
          </a:bodyPr>
          <a:lstStyle/>
          <a:p>
            <a:pPr algn="just">
              <a:lnSpc>
                <a:spcPts val="3175"/>
              </a:lnSpc>
            </a:pPr>
            <a:r>
              <a:rPr lang="en-US" sz="2268">
                <a:solidFill>
                  <a:srgbClr val="FFFFFF"/>
                </a:solidFill>
                <a:latin typeface="Helvetica World"/>
                <a:ea typeface="Helvetica World"/>
                <a:cs typeface="Helvetica World"/>
                <a:sym typeface="Helvetica World"/>
              </a:rPr>
              <a:t>Backend Application:</a:t>
            </a:r>
          </a:p>
          <a:p>
            <a:pPr algn="just">
              <a:lnSpc>
                <a:spcPts val="3175"/>
              </a:lnSpc>
            </a:pPr>
            <a:r>
              <a:rPr lang="en-US" sz="2268">
                <a:solidFill>
                  <a:srgbClr val="FFFFFF"/>
                </a:solidFill>
                <a:latin typeface="Helvetica World"/>
                <a:ea typeface="Helvetica World"/>
                <a:cs typeface="Helvetica World"/>
                <a:sym typeface="Helvetica World"/>
              </a:rPr>
              <a:t>• Controller Layer – Handles HTTP requests</a:t>
            </a:r>
          </a:p>
          <a:p>
            <a:pPr algn="just">
              <a:lnSpc>
                <a:spcPts val="3175"/>
              </a:lnSpc>
            </a:pPr>
            <a:r>
              <a:rPr lang="en-US" sz="2268">
                <a:solidFill>
                  <a:srgbClr val="FFFFFF"/>
                </a:solidFill>
                <a:latin typeface="Helvetica World"/>
                <a:ea typeface="Helvetica World"/>
                <a:cs typeface="Helvetica World"/>
                <a:sym typeface="Helvetica World"/>
              </a:rPr>
              <a:t> • Service Layer – Contains business logic</a:t>
            </a:r>
          </a:p>
          <a:p>
            <a:pPr algn="just">
              <a:lnSpc>
                <a:spcPts val="3175"/>
              </a:lnSpc>
            </a:pPr>
            <a:r>
              <a:rPr lang="en-US" sz="2268">
                <a:solidFill>
                  <a:srgbClr val="FFFFFF"/>
                </a:solidFill>
                <a:latin typeface="Helvetica World"/>
                <a:ea typeface="Helvetica World"/>
                <a:cs typeface="Helvetica World"/>
                <a:sym typeface="Helvetica World"/>
              </a:rPr>
              <a:t> • Repository Layer – Communicates with database</a:t>
            </a:r>
          </a:p>
          <a:p>
            <a:pPr algn="just">
              <a:lnSpc>
                <a:spcPts val="3175"/>
              </a:lnSpc>
            </a:pPr>
            <a:r>
              <a:rPr lang="en-US" sz="2268">
                <a:solidFill>
                  <a:srgbClr val="FFFFFF"/>
                </a:solidFill>
                <a:latin typeface="Helvetica World"/>
                <a:ea typeface="Helvetica World"/>
                <a:cs typeface="Helvetica World"/>
                <a:sym typeface="Helvetica World"/>
              </a:rPr>
              <a:t> • JPA/Hibernate – ORM framework</a:t>
            </a:r>
          </a:p>
          <a:p>
            <a:pPr algn="just">
              <a:lnSpc>
                <a:spcPts val="3175"/>
              </a:lnSpc>
            </a:pPr>
            <a:r>
              <a:rPr lang="en-US" sz="2268">
                <a:solidFill>
                  <a:srgbClr val="FFFFFF"/>
                </a:solidFill>
                <a:latin typeface="Helvetica World"/>
                <a:ea typeface="Helvetica World"/>
                <a:cs typeface="Helvetica World"/>
                <a:sym typeface="Helvetica World"/>
              </a:rPr>
              <a:t> • Oracle Database – Persistent storage</a:t>
            </a:r>
          </a:p>
          <a:p>
            <a:pPr algn="just">
              <a:lnSpc>
                <a:spcPts val="3175"/>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true" flipV="false" rot="-1565348">
            <a:off x="-3248838" y="-2699654"/>
            <a:ext cx="10441422" cy="4424552"/>
          </a:xfrm>
          <a:custGeom>
            <a:avLst/>
            <a:gdLst/>
            <a:ahLst/>
            <a:cxnLst/>
            <a:rect r="r" b="b" t="t" l="l"/>
            <a:pathLst>
              <a:path h="4424552" w="10441422">
                <a:moveTo>
                  <a:pt x="10441422" y="0"/>
                </a:moveTo>
                <a:lnTo>
                  <a:pt x="0" y="0"/>
                </a:lnTo>
                <a:lnTo>
                  <a:pt x="0" y="4424552"/>
                </a:lnTo>
                <a:lnTo>
                  <a:pt x="10441422" y="4424552"/>
                </a:lnTo>
                <a:lnTo>
                  <a:pt x="10441422" y="0"/>
                </a:lnTo>
                <a:close/>
              </a:path>
            </a:pathLst>
          </a:custGeom>
          <a:blipFill>
            <a:blip r:embed="rId2"/>
            <a:stretch>
              <a:fillRect l="0" t="0" r="0" b="0"/>
            </a:stretch>
          </a:blipFill>
        </p:spPr>
      </p:sp>
      <p:sp>
        <p:nvSpPr>
          <p:cNvPr name="TextBox 3" id="3"/>
          <p:cNvSpPr txBox="true"/>
          <p:nvPr/>
        </p:nvSpPr>
        <p:spPr>
          <a:xfrm rot="0">
            <a:off x="12028076" y="4795210"/>
            <a:ext cx="2798032" cy="323215"/>
          </a:xfrm>
          <a:prstGeom prst="rect">
            <a:avLst/>
          </a:prstGeom>
        </p:spPr>
        <p:txBody>
          <a:bodyPr anchor="t" rtlCol="false" tIns="0" lIns="0" bIns="0" rIns="0">
            <a:spAutoFit/>
          </a:bodyPr>
          <a:lstStyle/>
          <a:p>
            <a:pPr algn="l">
              <a:lnSpc>
                <a:spcPts val="2660"/>
              </a:lnSpc>
              <a:spcBef>
                <a:spcPct val="0"/>
              </a:spcBef>
            </a:pPr>
            <a:r>
              <a:rPr lang="en-US" sz="1900">
                <a:solidFill>
                  <a:srgbClr val="2B3D73"/>
                </a:solidFill>
                <a:latin typeface="Helvetica World"/>
                <a:ea typeface="Helvetica World"/>
                <a:cs typeface="Helvetica World"/>
                <a:sym typeface="Helvetica World"/>
              </a:rPr>
              <a:t>Studio Shodwe</a:t>
            </a:r>
          </a:p>
        </p:txBody>
      </p:sp>
      <p:sp>
        <p:nvSpPr>
          <p:cNvPr name="TextBox 4" id="4"/>
          <p:cNvSpPr txBox="true"/>
          <p:nvPr/>
        </p:nvSpPr>
        <p:spPr>
          <a:xfrm rot="0">
            <a:off x="14826108" y="4795210"/>
            <a:ext cx="2042727" cy="323215"/>
          </a:xfrm>
          <a:prstGeom prst="rect">
            <a:avLst/>
          </a:prstGeom>
        </p:spPr>
        <p:txBody>
          <a:bodyPr anchor="t" rtlCol="false" tIns="0" lIns="0" bIns="0" rIns="0">
            <a:spAutoFit/>
          </a:bodyPr>
          <a:lstStyle/>
          <a:p>
            <a:pPr algn="r">
              <a:lnSpc>
                <a:spcPts val="2660"/>
              </a:lnSpc>
              <a:spcBef>
                <a:spcPct val="0"/>
              </a:spcBef>
            </a:pPr>
            <a:r>
              <a:rPr lang="en-US" sz="1900">
                <a:solidFill>
                  <a:srgbClr val="2B3D73"/>
                </a:solidFill>
                <a:latin typeface="Helvetica World"/>
                <a:ea typeface="Helvetica World"/>
                <a:cs typeface="Helvetica World"/>
                <a:sym typeface="Helvetica World"/>
              </a:rPr>
              <a:t>Project.</a:t>
            </a:r>
          </a:p>
        </p:txBody>
      </p:sp>
      <p:sp>
        <p:nvSpPr>
          <p:cNvPr name="TextBox 5" id="5"/>
          <p:cNvSpPr txBox="true"/>
          <p:nvPr/>
        </p:nvSpPr>
        <p:spPr>
          <a:xfrm rot="0">
            <a:off x="13105358" y="6954118"/>
            <a:ext cx="6235858" cy="3842782"/>
          </a:xfrm>
          <a:prstGeom prst="rect">
            <a:avLst/>
          </a:prstGeom>
        </p:spPr>
        <p:txBody>
          <a:bodyPr anchor="t" rtlCol="false" tIns="0" lIns="0" bIns="0" rIns="0">
            <a:spAutoFit/>
          </a:bodyPr>
          <a:lstStyle/>
          <a:p>
            <a:pPr algn="ctr">
              <a:lnSpc>
                <a:spcPts val="28697"/>
              </a:lnSpc>
            </a:pPr>
            <a:r>
              <a:rPr lang="en-US" sz="29584">
                <a:solidFill>
                  <a:srgbClr val="FFFFFF"/>
                </a:solidFill>
                <a:latin typeface="Anton"/>
                <a:ea typeface="Anton"/>
                <a:cs typeface="Anton"/>
                <a:sym typeface="Anton"/>
              </a:rPr>
              <a:t>08</a:t>
            </a:r>
          </a:p>
        </p:txBody>
      </p:sp>
      <p:sp>
        <p:nvSpPr>
          <p:cNvPr name="TextBox 6" id="6"/>
          <p:cNvSpPr txBox="true"/>
          <p:nvPr/>
        </p:nvSpPr>
        <p:spPr>
          <a:xfrm rot="0">
            <a:off x="1004934" y="1054335"/>
            <a:ext cx="14746508" cy="1206251"/>
          </a:xfrm>
          <a:prstGeom prst="rect">
            <a:avLst/>
          </a:prstGeom>
        </p:spPr>
        <p:txBody>
          <a:bodyPr anchor="t" rtlCol="false" tIns="0" lIns="0" bIns="0" rIns="0">
            <a:spAutoFit/>
          </a:bodyPr>
          <a:lstStyle/>
          <a:p>
            <a:pPr algn="l">
              <a:lnSpc>
                <a:spcPts val="9059"/>
              </a:lnSpc>
            </a:pPr>
            <a:r>
              <a:rPr lang="en-US" sz="9339">
                <a:solidFill>
                  <a:srgbClr val="FFFFFF"/>
                </a:solidFill>
                <a:latin typeface="Anton"/>
                <a:ea typeface="Anton"/>
                <a:cs typeface="Anton"/>
                <a:sym typeface="Anton"/>
              </a:rPr>
              <a:t>DATABASE  DESIGN  ENTITIES</a:t>
            </a:r>
          </a:p>
        </p:txBody>
      </p:sp>
      <p:sp>
        <p:nvSpPr>
          <p:cNvPr name="TextBox 7" id="7"/>
          <p:cNvSpPr txBox="true"/>
          <p:nvPr/>
        </p:nvSpPr>
        <p:spPr>
          <a:xfrm rot="0">
            <a:off x="413068" y="3728723"/>
            <a:ext cx="10408734" cy="5492628"/>
          </a:xfrm>
          <a:prstGeom prst="rect">
            <a:avLst/>
          </a:prstGeom>
        </p:spPr>
        <p:txBody>
          <a:bodyPr anchor="t" rtlCol="false" tIns="0" lIns="0" bIns="0" rIns="0">
            <a:spAutoFit/>
          </a:bodyPr>
          <a:lstStyle/>
          <a:p>
            <a:pPr algn="l">
              <a:lnSpc>
                <a:spcPts val="4801"/>
              </a:lnSpc>
            </a:pPr>
            <a:r>
              <a:rPr lang="en-US" b="true" sz="3429">
                <a:solidFill>
                  <a:srgbClr val="FFFFFF"/>
                </a:solidFill>
                <a:latin typeface="Helvetica World Bold"/>
                <a:ea typeface="Helvetica World Bold"/>
                <a:cs typeface="Helvetica World Bold"/>
                <a:sym typeface="Helvetica World Bold"/>
              </a:rPr>
              <a:t>Main Entities:</a:t>
            </a:r>
          </a:p>
          <a:p>
            <a:pPr algn="l">
              <a:lnSpc>
                <a:spcPts val="3541"/>
              </a:lnSpc>
            </a:pPr>
            <a:r>
              <a:rPr lang="en-US" sz="2529">
                <a:solidFill>
                  <a:srgbClr val="FFFFFF"/>
                </a:solidFill>
                <a:latin typeface="Helvetica World"/>
                <a:ea typeface="Helvetica World"/>
                <a:cs typeface="Helvetica World"/>
                <a:sym typeface="Helvetica World"/>
              </a:rPr>
              <a:t>User – Stores user credentials and account details</a:t>
            </a:r>
          </a:p>
          <a:p>
            <a:pPr algn="l">
              <a:lnSpc>
                <a:spcPts val="3541"/>
              </a:lnSpc>
            </a:pPr>
            <a:r>
              <a:rPr lang="en-US" sz="2529">
                <a:solidFill>
                  <a:srgbClr val="FFFFFF"/>
                </a:solidFill>
                <a:latin typeface="Helvetica World"/>
                <a:ea typeface="Helvetica World"/>
                <a:cs typeface="Helvetica World"/>
                <a:sym typeface="Helvetica World"/>
              </a:rPr>
              <a:t> SecurityQuestion – Stores recovery questions and hashed answers</a:t>
            </a:r>
          </a:p>
          <a:p>
            <a:pPr algn="l">
              <a:lnSpc>
                <a:spcPts val="3541"/>
              </a:lnSpc>
            </a:pPr>
            <a:r>
              <a:rPr lang="en-US" sz="2529">
                <a:solidFill>
                  <a:srgbClr val="FFFFFF"/>
                </a:solidFill>
                <a:latin typeface="Helvetica World"/>
                <a:ea typeface="Helvetica World"/>
                <a:cs typeface="Helvetica World"/>
                <a:sym typeface="Helvetica World"/>
              </a:rPr>
              <a:t> PasswordEntry – Stores encrypted vault passwords</a:t>
            </a:r>
          </a:p>
          <a:p>
            <a:pPr algn="l">
              <a:lnSpc>
                <a:spcPts val="3541"/>
              </a:lnSpc>
            </a:pPr>
            <a:r>
              <a:rPr lang="en-US" sz="2529">
                <a:solidFill>
                  <a:srgbClr val="FFFFFF"/>
                </a:solidFill>
                <a:latin typeface="Helvetica World"/>
                <a:ea typeface="Helvetica World"/>
                <a:cs typeface="Helvetica World"/>
                <a:sym typeface="Helvetica World"/>
              </a:rPr>
              <a:t> OTPVerification – Manages OTP generation and verification</a:t>
            </a:r>
          </a:p>
          <a:p>
            <a:pPr algn="l">
              <a:lnSpc>
                <a:spcPts val="4801"/>
              </a:lnSpc>
            </a:pPr>
          </a:p>
          <a:p>
            <a:pPr algn="l">
              <a:lnSpc>
                <a:spcPts val="4801"/>
              </a:lnSpc>
            </a:pPr>
            <a:r>
              <a:rPr lang="en-US" b="true" sz="3429">
                <a:solidFill>
                  <a:srgbClr val="FFFFFF"/>
                </a:solidFill>
                <a:latin typeface="Helvetica World Bold"/>
                <a:ea typeface="Helvetica World Bold"/>
                <a:cs typeface="Helvetica World Bold"/>
                <a:sym typeface="Helvetica World Bold"/>
              </a:rPr>
              <a:t>Relational Mapping:</a:t>
            </a:r>
          </a:p>
          <a:p>
            <a:pPr algn="l">
              <a:lnSpc>
                <a:spcPts val="3541"/>
              </a:lnSpc>
            </a:pPr>
          </a:p>
          <a:p>
            <a:pPr algn="l">
              <a:lnSpc>
                <a:spcPts val="3541"/>
              </a:lnSpc>
            </a:pPr>
            <a:r>
              <a:rPr lang="en-US" sz="2529">
                <a:solidFill>
                  <a:srgbClr val="FFFFFF"/>
                </a:solidFill>
                <a:latin typeface="Helvetica World"/>
                <a:ea typeface="Helvetica World"/>
                <a:cs typeface="Helvetica World"/>
                <a:sym typeface="Helvetica World"/>
              </a:rPr>
              <a:t>User (1) → (Many) PasswordEntry</a:t>
            </a:r>
          </a:p>
          <a:p>
            <a:pPr algn="l">
              <a:lnSpc>
                <a:spcPts val="3541"/>
              </a:lnSpc>
            </a:pPr>
            <a:r>
              <a:rPr lang="en-US" sz="2529">
                <a:solidFill>
                  <a:srgbClr val="FFFFFF"/>
                </a:solidFill>
                <a:latin typeface="Helvetica World"/>
                <a:ea typeface="Helvetica World"/>
                <a:cs typeface="Helvetica World"/>
                <a:sym typeface="Helvetica World"/>
              </a:rPr>
              <a:t> User (1) → (3) SecurityQuestion</a:t>
            </a:r>
          </a:p>
          <a:p>
            <a:pPr algn="l">
              <a:lnSpc>
                <a:spcPts val="3541"/>
              </a:lnSpc>
              <a:spcBef>
                <a:spcPct val="0"/>
              </a:spcBef>
            </a:pPr>
          </a:p>
        </p:txBody>
      </p:sp>
      <p:sp>
        <p:nvSpPr>
          <p:cNvPr name="Freeform 8" id="8"/>
          <p:cNvSpPr/>
          <p:nvPr/>
        </p:nvSpPr>
        <p:spPr>
          <a:xfrm flipH="false" flipV="false" rot="8250927">
            <a:off x="5474853" y="9392680"/>
            <a:ext cx="7735476" cy="4631616"/>
          </a:xfrm>
          <a:custGeom>
            <a:avLst/>
            <a:gdLst/>
            <a:ahLst/>
            <a:cxnLst/>
            <a:rect r="r" b="b" t="t" l="l"/>
            <a:pathLst>
              <a:path h="4631616" w="7735476">
                <a:moveTo>
                  <a:pt x="0" y="0"/>
                </a:moveTo>
                <a:lnTo>
                  <a:pt x="7735476" y="0"/>
                </a:lnTo>
                <a:lnTo>
                  <a:pt x="7735476" y="4631616"/>
                </a:lnTo>
                <a:lnTo>
                  <a:pt x="0" y="4631616"/>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8410460">
            <a:off x="1935723" y="-5126712"/>
            <a:ext cx="11976399" cy="7170869"/>
          </a:xfrm>
          <a:custGeom>
            <a:avLst/>
            <a:gdLst/>
            <a:ahLst/>
            <a:cxnLst/>
            <a:rect r="r" b="b" t="t" l="l"/>
            <a:pathLst>
              <a:path h="7170869" w="11976399">
                <a:moveTo>
                  <a:pt x="0" y="0"/>
                </a:moveTo>
                <a:lnTo>
                  <a:pt x="11976399" y="0"/>
                </a:lnTo>
                <a:lnTo>
                  <a:pt x="11976399" y="7170868"/>
                </a:lnTo>
                <a:lnTo>
                  <a:pt x="0" y="7170868"/>
                </a:lnTo>
                <a:lnTo>
                  <a:pt x="0" y="0"/>
                </a:lnTo>
                <a:close/>
              </a:path>
            </a:pathLst>
          </a:custGeom>
          <a:blipFill>
            <a:blip r:embed="rId2"/>
            <a:stretch>
              <a:fillRect l="0" t="0" r="0" b="0"/>
            </a:stretch>
          </a:blipFill>
        </p:spPr>
      </p:sp>
      <p:sp>
        <p:nvSpPr>
          <p:cNvPr name="TextBox 3" id="3"/>
          <p:cNvSpPr txBox="true"/>
          <p:nvPr/>
        </p:nvSpPr>
        <p:spPr>
          <a:xfrm rot="0">
            <a:off x="13088678" y="-353868"/>
            <a:ext cx="6655018" cy="4123349"/>
          </a:xfrm>
          <a:prstGeom prst="rect">
            <a:avLst/>
          </a:prstGeom>
        </p:spPr>
        <p:txBody>
          <a:bodyPr anchor="t" rtlCol="false" tIns="0" lIns="0" bIns="0" rIns="0">
            <a:spAutoFit/>
          </a:bodyPr>
          <a:lstStyle/>
          <a:p>
            <a:pPr algn="ctr">
              <a:lnSpc>
                <a:spcPts val="30626"/>
              </a:lnSpc>
            </a:pPr>
            <a:r>
              <a:rPr lang="en-US" sz="31573">
                <a:solidFill>
                  <a:srgbClr val="FFFFFF"/>
                </a:solidFill>
                <a:latin typeface="Anton"/>
                <a:ea typeface="Anton"/>
                <a:cs typeface="Anton"/>
                <a:sym typeface="Anton"/>
              </a:rPr>
              <a:t>09</a:t>
            </a:r>
          </a:p>
        </p:txBody>
      </p:sp>
      <p:grpSp>
        <p:nvGrpSpPr>
          <p:cNvPr name="Group 4" id="4"/>
          <p:cNvGrpSpPr/>
          <p:nvPr/>
        </p:nvGrpSpPr>
        <p:grpSpPr>
          <a:xfrm rot="0">
            <a:off x="1028700" y="1028700"/>
            <a:ext cx="5473709" cy="2431846"/>
            <a:chOff x="0" y="0"/>
            <a:chExt cx="1441635" cy="640486"/>
          </a:xfrm>
        </p:grpSpPr>
        <p:sp>
          <p:nvSpPr>
            <p:cNvPr name="Freeform 5" id="5"/>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solidFill>
              <a:srgbClr val="FFFFFF"/>
            </a:solidFill>
          </p:spPr>
        </p:sp>
        <p:sp>
          <p:nvSpPr>
            <p:cNvPr name="TextBox 6" id="6"/>
            <p:cNvSpPr txBox="true"/>
            <p:nvPr/>
          </p:nvSpPr>
          <p:spPr>
            <a:xfrm>
              <a:off x="0" y="-47625"/>
              <a:ext cx="1441635" cy="688111"/>
            </a:xfrm>
            <a:prstGeom prst="rect">
              <a:avLst/>
            </a:prstGeom>
          </p:spPr>
          <p:txBody>
            <a:bodyPr anchor="ctr" rtlCol="false" tIns="50800" lIns="50800" bIns="50800" rIns="50800"/>
            <a:lstStyle/>
            <a:p>
              <a:pPr algn="ctr">
                <a:lnSpc>
                  <a:spcPts val="3639"/>
                </a:lnSpc>
              </a:pPr>
            </a:p>
          </p:txBody>
        </p:sp>
      </p:grpSp>
      <p:grpSp>
        <p:nvGrpSpPr>
          <p:cNvPr name="Group 7" id="7"/>
          <p:cNvGrpSpPr/>
          <p:nvPr/>
        </p:nvGrpSpPr>
        <p:grpSpPr>
          <a:xfrm rot="0">
            <a:off x="1028700" y="3655775"/>
            <a:ext cx="5473709" cy="2431846"/>
            <a:chOff x="0" y="0"/>
            <a:chExt cx="1441635" cy="640486"/>
          </a:xfrm>
        </p:grpSpPr>
        <p:sp>
          <p:nvSpPr>
            <p:cNvPr name="Freeform 8" id="8"/>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solidFill>
              <a:srgbClr val="FFFFFF"/>
            </a:solidFill>
          </p:spPr>
        </p:sp>
        <p:sp>
          <p:nvSpPr>
            <p:cNvPr name="TextBox 9" id="9"/>
            <p:cNvSpPr txBox="true"/>
            <p:nvPr/>
          </p:nvSpPr>
          <p:spPr>
            <a:xfrm>
              <a:off x="0" y="-47625"/>
              <a:ext cx="1441635" cy="688111"/>
            </a:xfrm>
            <a:prstGeom prst="rect">
              <a:avLst/>
            </a:prstGeom>
          </p:spPr>
          <p:txBody>
            <a:bodyPr anchor="ctr" rtlCol="false" tIns="50800" lIns="50800" bIns="50800" rIns="50800"/>
            <a:lstStyle/>
            <a:p>
              <a:pPr algn="ctr">
                <a:lnSpc>
                  <a:spcPts val="3639"/>
                </a:lnSpc>
              </a:pPr>
            </a:p>
          </p:txBody>
        </p:sp>
      </p:grpSp>
      <p:grpSp>
        <p:nvGrpSpPr>
          <p:cNvPr name="Group 10" id="10"/>
          <p:cNvGrpSpPr/>
          <p:nvPr/>
        </p:nvGrpSpPr>
        <p:grpSpPr>
          <a:xfrm rot="0">
            <a:off x="1028700" y="6286752"/>
            <a:ext cx="5473709" cy="2431846"/>
            <a:chOff x="0" y="0"/>
            <a:chExt cx="1441635" cy="640486"/>
          </a:xfrm>
        </p:grpSpPr>
        <p:sp>
          <p:nvSpPr>
            <p:cNvPr name="Freeform 11" id="11"/>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solidFill>
              <a:srgbClr val="FFFFFF"/>
            </a:solidFill>
          </p:spPr>
        </p:sp>
        <p:sp>
          <p:nvSpPr>
            <p:cNvPr name="TextBox 12" id="12"/>
            <p:cNvSpPr txBox="true"/>
            <p:nvPr/>
          </p:nvSpPr>
          <p:spPr>
            <a:xfrm>
              <a:off x="0" y="-47625"/>
              <a:ext cx="1441635" cy="688111"/>
            </a:xfrm>
            <a:prstGeom prst="rect">
              <a:avLst/>
            </a:prstGeom>
          </p:spPr>
          <p:txBody>
            <a:bodyPr anchor="ctr" rtlCol="false" tIns="50800" lIns="50800" bIns="50800" rIns="50800"/>
            <a:lstStyle/>
            <a:p>
              <a:pPr algn="ctr">
                <a:lnSpc>
                  <a:spcPts val="3639"/>
                </a:lnSpc>
              </a:pPr>
            </a:p>
          </p:txBody>
        </p:sp>
      </p:grpSp>
      <p:grpSp>
        <p:nvGrpSpPr>
          <p:cNvPr name="Group 13" id="13"/>
          <p:cNvGrpSpPr/>
          <p:nvPr/>
        </p:nvGrpSpPr>
        <p:grpSpPr>
          <a:xfrm rot="0">
            <a:off x="11785591" y="1028700"/>
            <a:ext cx="5473709" cy="2431846"/>
            <a:chOff x="0" y="0"/>
            <a:chExt cx="1441635" cy="640486"/>
          </a:xfrm>
        </p:grpSpPr>
        <p:sp>
          <p:nvSpPr>
            <p:cNvPr name="Freeform 14" id="14"/>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solidFill>
              <a:srgbClr val="FFFFFF"/>
            </a:solidFill>
          </p:spPr>
        </p:sp>
        <p:sp>
          <p:nvSpPr>
            <p:cNvPr name="TextBox 15" id="15"/>
            <p:cNvSpPr txBox="true"/>
            <p:nvPr/>
          </p:nvSpPr>
          <p:spPr>
            <a:xfrm>
              <a:off x="0" y="-47625"/>
              <a:ext cx="1441635" cy="688111"/>
            </a:xfrm>
            <a:prstGeom prst="rect">
              <a:avLst/>
            </a:prstGeom>
          </p:spPr>
          <p:txBody>
            <a:bodyPr anchor="ctr" rtlCol="false" tIns="50800" lIns="50800" bIns="50800" rIns="50800"/>
            <a:lstStyle/>
            <a:p>
              <a:pPr algn="ctr">
                <a:lnSpc>
                  <a:spcPts val="3639"/>
                </a:lnSpc>
              </a:pPr>
            </a:p>
          </p:txBody>
        </p:sp>
      </p:grpSp>
      <p:grpSp>
        <p:nvGrpSpPr>
          <p:cNvPr name="Group 16" id="16"/>
          <p:cNvGrpSpPr/>
          <p:nvPr/>
        </p:nvGrpSpPr>
        <p:grpSpPr>
          <a:xfrm rot="0">
            <a:off x="11785591" y="3655775"/>
            <a:ext cx="5473709" cy="2431846"/>
            <a:chOff x="0" y="0"/>
            <a:chExt cx="1441635" cy="640486"/>
          </a:xfrm>
        </p:grpSpPr>
        <p:sp>
          <p:nvSpPr>
            <p:cNvPr name="Freeform 17" id="17"/>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solidFill>
              <a:srgbClr val="FFFFFF"/>
            </a:solidFill>
          </p:spPr>
        </p:sp>
        <p:sp>
          <p:nvSpPr>
            <p:cNvPr name="TextBox 18" id="18"/>
            <p:cNvSpPr txBox="true"/>
            <p:nvPr/>
          </p:nvSpPr>
          <p:spPr>
            <a:xfrm>
              <a:off x="0" y="-47625"/>
              <a:ext cx="1441635" cy="688111"/>
            </a:xfrm>
            <a:prstGeom prst="rect">
              <a:avLst/>
            </a:prstGeom>
          </p:spPr>
          <p:txBody>
            <a:bodyPr anchor="ctr" rtlCol="false" tIns="50800" lIns="50800" bIns="50800" rIns="50800"/>
            <a:lstStyle/>
            <a:p>
              <a:pPr algn="ctr">
                <a:lnSpc>
                  <a:spcPts val="3639"/>
                </a:lnSpc>
              </a:pPr>
            </a:p>
          </p:txBody>
        </p:sp>
      </p:grpSp>
      <p:grpSp>
        <p:nvGrpSpPr>
          <p:cNvPr name="Group 19" id="19"/>
          <p:cNvGrpSpPr/>
          <p:nvPr/>
        </p:nvGrpSpPr>
        <p:grpSpPr>
          <a:xfrm rot="0">
            <a:off x="11785591" y="6286752"/>
            <a:ext cx="5473709" cy="2431846"/>
            <a:chOff x="0" y="0"/>
            <a:chExt cx="1441635" cy="640486"/>
          </a:xfrm>
        </p:grpSpPr>
        <p:sp>
          <p:nvSpPr>
            <p:cNvPr name="Freeform 20" id="20"/>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solidFill>
              <a:srgbClr val="FFFFFF"/>
            </a:solidFill>
          </p:spPr>
        </p:sp>
        <p:sp>
          <p:nvSpPr>
            <p:cNvPr name="TextBox 21" id="21"/>
            <p:cNvSpPr txBox="true"/>
            <p:nvPr/>
          </p:nvSpPr>
          <p:spPr>
            <a:xfrm>
              <a:off x="0" y="-47625"/>
              <a:ext cx="1441635" cy="688111"/>
            </a:xfrm>
            <a:prstGeom prst="rect">
              <a:avLst/>
            </a:prstGeom>
          </p:spPr>
          <p:txBody>
            <a:bodyPr anchor="ctr" rtlCol="false" tIns="50800" lIns="50800" bIns="50800" rIns="50800"/>
            <a:lstStyle/>
            <a:p>
              <a:pPr algn="ctr">
                <a:lnSpc>
                  <a:spcPts val="3639"/>
                </a:lnSpc>
              </a:pPr>
            </a:p>
          </p:txBody>
        </p:sp>
      </p:grpSp>
      <p:sp>
        <p:nvSpPr>
          <p:cNvPr name="TextBox 22" id="22"/>
          <p:cNvSpPr txBox="true"/>
          <p:nvPr/>
        </p:nvSpPr>
        <p:spPr>
          <a:xfrm rot="0">
            <a:off x="847164" y="1727678"/>
            <a:ext cx="1497347" cy="908806"/>
          </a:xfrm>
          <a:prstGeom prst="rect">
            <a:avLst/>
          </a:prstGeom>
        </p:spPr>
        <p:txBody>
          <a:bodyPr anchor="t" rtlCol="false" tIns="0" lIns="0" bIns="0" rIns="0">
            <a:spAutoFit/>
          </a:bodyPr>
          <a:lstStyle/>
          <a:p>
            <a:pPr algn="ctr">
              <a:lnSpc>
                <a:spcPts val="6772"/>
              </a:lnSpc>
            </a:pPr>
            <a:r>
              <a:rPr lang="en-US" sz="6982">
                <a:solidFill>
                  <a:srgbClr val="2B3D73"/>
                </a:solidFill>
                <a:latin typeface="Anton"/>
                <a:ea typeface="Anton"/>
                <a:cs typeface="Anton"/>
                <a:sym typeface="Anton"/>
              </a:rPr>
              <a:t>A</a:t>
            </a:r>
          </a:p>
        </p:txBody>
      </p:sp>
      <p:sp>
        <p:nvSpPr>
          <p:cNvPr name="TextBox 23" id="23"/>
          <p:cNvSpPr txBox="true"/>
          <p:nvPr/>
        </p:nvSpPr>
        <p:spPr>
          <a:xfrm rot="0">
            <a:off x="11785591" y="1866420"/>
            <a:ext cx="1497347" cy="908806"/>
          </a:xfrm>
          <a:prstGeom prst="rect">
            <a:avLst/>
          </a:prstGeom>
        </p:spPr>
        <p:txBody>
          <a:bodyPr anchor="t" rtlCol="false" tIns="0" lIns="0" bIns="0" rIns="0">
            <a:spAutoFit/>
          </a:bodyPr>
          <a:lstStyle/>
          <a:p>
            <a:pPr algn="ctr">
              <a:lnSpc>
                <a:spcPts val="6772"/>
              </a:lnSpc>
            </a:pPr>
            <a:r>
              <a:rPr lang="en-US" sz="6982">
                <a:solidFill>
                  <a:srgbClr val="2B3D73"/>
                </a:solidFill>
                <a:latin typeface="Anton"/>
                <a:ea typeface="Anton"/>
                <a:cs typeface="Anton"/>
                <a:sym typeface="Anton"/>
              </a:rPr>
              <a:t>D</a:t>
            </a:r>
          </a:p>
        </p:txBody>
      </p:sp>
      <p:sp>
        <p:nvSpPr>
          <p:cNvPr name="TextBox 24" id="24"/>
          <p:cNvSpPr txBox="true"/>
          <p:nvPr/>
        </p:nvSpPr>
        <p:spPr>
          <a:xfrm rot="0">
            <a:off x="847164" y="4470287"/>
            <a:ext cx="1497347" cy="908806"/>
          </a:xfrm>
          <a:prstGeom prst="rect">
            <a:avLst/>
          </a:prstGeom>
        </p:spPr>
        <p:txBody>
          <a:bodyPr anchor="t" rtlCol="false" tIns="0" lIns="0" bIns="0" rIns="0">
            <a:spAutoFit/>
          </a:bodyPr>
          <a:lstStyle/>
          <a:p>
            <a:pPr algn="ctr">
              <a:lnSpc>
                <a:spcPts val="6772"/>
              </a:lnSpc>
            </a:pPr>
            <a:r>
              <a:rPr lang="en-US" sz="6982">
                <a:solidFill>
                  <a:srgbClr val="2B3D73"/>
                </a:solidFill>
                <a:latin typeface="Anton"/>
                <a:ea typeface="Anton"/>
                <a:cs typeface="Anton"/>
                <a:sym typeface="Anton"/>
              </a:rPr>
              <a:t>B</a:t>
            </a:r>
          </a:p>
        </p:txBody>
      </p:sp>
      <p:sp>
        <p:nvSpPr>
          <p:cNvPr name="TextBox 25" id="25"/>
          <p:cNvSpPr txBox="true"/>
          <p:nvPr/>
        </p:nvSpPr>
        <p:spPr>
          <a:xfrm rot="0">
            <a:off x="11785591" y="4493496"/>
            <a:ext cx="1497347" cy="908806"/>
          </a:xfrm>
          <a:prstGeom prst="rect">
            <a:avLst/>
          </a:prstGeom>
        </p:spPr>
        <p:txBody>
          <a:bodyPr anchor="t" rtlCol="false" tIns="0" lIns="0" bIns="0" rIns="0">
            <a:spAutoFit/>
          </a:bodyPr>
          <a:lstStyle/>
          <a:p>
            <a:pPr algn="ctr">
              <a:lnSpc>
                <a:spcPts val="6772"/>
              </a:lnSpc>
            </a:pPr>
            <a:r>
              <a:rPr lang="en-US" sz="6982">
                <a:solidFill>
                  <a:srgbClr val="2B3D73"/>
                </a:solidFill>
                <a:latin typeface="Anton"/>
                <a:ea typeface="Anton"/>
                <a:cs typeface="Anton"/>
                <a:sym typeface="Anton"/>
              </a:rPr>
              <a:t>E</a:t>
            </a:r>
          </a:p>
        </p:txBody>
      </p:sp>
      <p:sp>
        <p:nvSpPr>
          <p:cNvPr name="TextBox 26" id="26"/>
          <p:cNvSpPr txBox="true"/>
          <p:nvPr/>
        </p:nvSpPr>
        <p:spPr>
          <a:xfrm rot="0">
            <a:off x="6591555" y="4040543"/>
            <a:ext cx="5333611" cy="1264691"/>
          </a:xfrm>
          <a:prstGeom prst="rect">
            <a:avLst/>
          </a:prstGeom>
        </p:spPr>
        <p:txBody>
          <a:bodyPr anchor="t" rtlCol="false" tIns="0" lIns="0" bIns="0" rIns="0">
            <a:spAutoFit/>
          </a:bodyPr>
          <a:lstStyle/>
          <a:p>
            <a:pPr algn="ctr">
              <a:lnSpc>
                <a:spcPts val="4420"/>
              </a:lnSpc>
            </a:pPr>
            <a:r>
              <a:rPr lang="en-US" b="true" sz="4557">
                <a:solidFill>
                  <a:srgbClr val="FFFFFF"/>
                </a:solidFill>
                <a:latin typeface="Helvetica World Bold"/>
                <a:ea typeface="Helvetica World Bold"/>
                <a:cs typeface="Helvetica World Bold"/>
                <a:sym typeface="Helvetica World Bold"/>
              </a:rPr>
              <a:t>Core Functional Requirements</a:t>
            </a:r>
          </a:p>
        </p:txBody>
      </p:sp>
      <p:sp>
        <p:nvSpPr>
          <p:cNvPr name="TextBox 27" id="27"/>
          <p:cNvSpPr txBox="true"/>
          <p:nvPr/>
        </p:nvSpPr>
        <p:spPr>
          <a:xfrm rot="0">
            <a:off x="2070508" y="1336332"/>
            <a:ext cx="3769378" cy="1788008"/>
          </a:xfrm>
          <a:prstGeom prst="rect">
            <a:avLst/>
          </a:prstGeom>
        </p:spPr>
        <p:txBody>
          <a:bodyPr anchor="t" rtlCol="false" tIns="0" lIns="0" bIns="0" rIns="0">
            <a:spAutoFit/>
          </a:bodyPr>
          <a:lstStyle/>
          <a:p>
            <a:pPr algn="just">
              <a:lnSpc>
                <a:spcPts val="2353"/>
              </a:lnSpc>
            </a:pPr>
          </a:p>
          <a:p>
            <a:pPr algn="just">
              <a:lnSpc>
                <a:spcPts val="2353"/>
              </a:lnSpc>
            </a:pPr>
            <a:r>
              <a:rPr lang="en-US" sz="1680">
                <a:solidFill>
                  <a:srgbClr val="2B3D73"/>
                </a:solidFill>
                <a:latin typeface="Helvetica World"/>
                <a:ea typeface="Helvetica World"/>
                <a:cs typeface="Helvetica World"/>
                <a:sym typeface="Helvetica World"/>
              </a:rPr>
              <a:t>Create Account</a:t>
            </a:r>
          </a:p>
          <a:p>
            <a:pPr algn="just">
              <a:lnSpc>
                <a:spcPts val="2353"/>
              </a:lnSpc>
            </a:pPr>
            <a:r>
              <a:rPr lang="en-US" sz="1680">
                <a:solidFill>
                  <a:srgbClr val="2B3D73"/>
                </a:solidFill>
                <a:latin typeface="Helvetica World"/>
                <a:ea typeface="Helvetica World"/>
                <a:cs typeface="Helvetica World"/>
                <a:sym typeface="Helvetica World"/>
              </a:rPr>
              <a:t>Allow users to register with email and secure verification, capturing basic profile and security preferences.</a:t>
            </a:r>
          </a:p>
          <a:p>
            <a:pPr algn="just">
              <a:lnSpc>
                <a:spcPts val="2353"/>
              </a:lnSpc>
              <a:spcBef>
                <a:spcPct val="0"/>
              </a:spcBef>
            </a:pPr>
          </a:p>
        </p:txBody>
      </p:sp>
      <p:sp>
        <p:nvSpPr>
          <p:cNvPr name="TextBox 28" id="28"/>
          <p:cNvSpPr txBox="true"/>
          <p:nvPr/>
        </p:nvSpPr>
        <p:spPr>
          <a:xfrm rot="0">
            <a:off x="13088678" y="1541480"/>
            <a:ext cx="3976362" cy="1383157"/>
          </a:xfrm>
          <a:prstGeom prst="rect">
            <a:avLst/>
          </a:prstGeom>
        </p:spPr>
        <p:txBody>
          <a:bodyPr anchor="t" rtlCol="false" tIns="0" lIns="0" bIns="0" rIns="0">
            <a:spAutoFit/>
          </a:bodyPr>
          <a:lstStyle/>
          <a:p>
            <a:pPr algn="just">
              <a:lnSpc>
                <a:spcPts val="2198"/>
              </a:lnSpc>
            </a:pPr>
            <a:r>
              <a:rPr lang="en-US" sz="1570">
                <a:solidFill>
                  <a:srgbClr val="2B3D73"/>
                </a:solidFill>
                <a:latin typeface="Helvetica World"/>
                <a:ea typeface="Helvetica World"/>
                <a:cs typeface="Helvetica World"/>
                <a:sym typeface="Helvetica World"/>
              </a:rPr>
              <a:t>Store Credentials</a:t>
            </a:r>
          </a:p>
          <a:p>
            <a:pPr algn="just">
              <a:lnSpc>
                <a:spcPts val="2198"/>
              </a:lnSpc>
            </a:pPr>
            <a:r>
              <a:rPr lang="en-US" sz="1570">
                <a:solidFill>
                  <a:srgbClr val="2B3D73"/>
                </a:solidFill>
                <a:latin typeface="Helvetica World"/>
                <a:ea typeface="Helvetica World"/>
                <a:cs typeface="Helvetica World"/>
                <a:sym typeface="Helvetica World"/>
              </a:rPr>
              <a:t>Encrypt and store user credentials securely, supporting categorized entries and metadata tags.</a:t>
            </a:r>
          </a:p>
          <a:p>
            <a:pPr algn="just">
              <a:lnSpc>
                <a:spcPts val="2198"/>
              </a:lnSpc>
              <a:spcBef>
                <a:spcPct val="0"/>
              </a:spcBef>
            </a:pPr>
          </a:p>
        </p:txBody>
      </p:sp>
      <p:sp>
        <p:nvSpPr>
          <p:cNvPr name="TextBox 29" id="29"/>
          <p:cNvSpPr txBox="true"/>
          <p:nvPr/>
        </p:nvSpPr>
        <p:spPr>
          <a:xfrm rot="0">
            <a:off x="2070508" y="4382174"/>
            <a:ext cx="4431901" cy="1042278"/>
          </a:xfrm>
          <a:prstGeom prst="rect">
            <a:avLst/>
          </a:prstGeom>
        </p:spPr>
        <p:txBody>
          <a:bodyPr anchor="t" rtlCol="false" tIns="0" lIns="0" bIns="0" rIns="0">
            <a:spAutoFit/>
          </a:bodyPr>
          <a:lstStyle/>
          <a:p>
            <a:pPr algn="just">
              <a:lnSpc>
                <a:spcPts val="2086"/>
              </a:lnSpc>
            </a:pPr>
            <a:r>
              <a:rPr lang="en-US" sz="1490">
                <a:solidFill>
                  <a:srgbClr val="2B3D73"/>
                </a:solidFill>
                <a:latin typeface="Helvetica World"/>
                <a:ea typeface="Helvetica World"/>
                <a:cs typeface="Helvetica World"/>
                <a:sym typeface="Helvetica World"/>
              </a:rPr>
              <a:t>Login</a:t>
            </a:r>
          </a:p>
          <a:p>
            <a:pPr algn="just">
              <a:lnSpc>
                <a:spcPts val="2086"/>
              </a:lnSpc>
            </a:pPr>
            <a:r>
              <a:rPr lang="en-US" sz="1490">
                <a:solidFill>
                  <a:srgbClr val="2B3D73"/>
                </a:solidFill>
                <a:latin typeface="Helvetica World"/>
                <a:ea typeface="Helvetica World"/>
                <a:cs typeface="Helvetica World"/>
                <a:sym typeface="Helvetica World"/>
              </a:rPr>
              <a:t>Provide multi-factor authentication options and secure session management for reliable user access.</a:t>
            </a:r>
          </a:p>
          <a:p>
            <a:pPr algn="just">
              <a:lnSpc>
                <a:spcPts val="2086"/>
              </a:lnSpc>
              <a:spcBef>
                <a:spcPct val="0"/>
              </a:spcBef>
            </a:pPr>
          </a:p>
        </p:txBody>
      </p:sp>
      <p:sp>
        <p:nvSpPr>
          <p:cNvPr name="TextBox 30" id="30"/>
          <p:cNvSpPr txBox="true"/>
          <p:nvPr/>
        </p:nvSpPr>
        <p:spPr>
          <a:xfrm rot="0">
            <a:off x="13088678" y="4147386"/>
            <a:ext cx="3587842" cy="1383157"/>
          </a:xfrm>
          <a:prstGeom prst="rect">
            <a:avLst/>
          </a:prstGeom>
        </p:spPr>
        <p:txBody>
          <a:bodyPr anchor="t" rtlCol="false" tIns="0" lIns="0" bIns="0" rIns="0">
            <a:spAutoFit/>
          </a:bodyPr>
          <a:lstStyle/>
          <a:p>
            <a:pPr algn="just">
              <a:lnSpc>
                <a:spcPts val="2198"/>
              </a:lnSpc>
            </a:pPr>
            <a:r>
              <a:rPr lang="en-US" sz="1570">
                <a:solidFill>
                  <a:srgbClr val="2B3D73"/>
                </a:solidFill>
                <a:latin typeface="Helvetica World"/>
                <a:ea typeface="Helvetica World"/>
                <a:cs typeface="Helvetica World"/>
                <a:sym typeface="Helvetica World"/>
              </a:rPr>
              <a:t>Manage password</a:t>
            </a:r>
          </a:p>
          <a:p>
            <a:pPr algn="just">
              <a:lnSpc>
                <a:spcPts val="2198"/>
              </a:lnSpc>
            </a:pPr>
            <a:r>
              <a:rPr lang="en-US" sz="1570">
                <a:solidFill>
                  <a:srgbClr val="2B3D73"/>
                </a:solidFill>
                <a:latin typeface="Helvetica World"/>
                <a:ea typeface="Helvetica World"/>
                <a:cs typeface="Helvetica World"/>
                <a:sym typeface="Helvetica World"/>
              </a:rPr>
              <a:t>Enable users to organize, edit, share securely, and audit access to items within their vault.</a:t>
            </a:r>
          </a:p>
          <a:p>
            <a:pPr algn="just">
              <a:lnSpc>
                <a:spcPts val="2198"/>
              </a:lnSpc>
              <a:spcBef>
                <a:spcPct val="0"/>
              </a:spcBef>
            </a:pPr>
          </a:p>
        </p:txBody>
      </p:sp>
      <p:sp>
        <p:nvSpPr>
          <p:cNvPr name="TextBox 31" id="31"/>
          <p:cNvSpPr txBox="true"/>
          <p:nvPr/>
        </p:nvSpPr>
        <p:spPr>
          <a:xfrm rot="0">
            <a:off x="847164" y="7120571"/>
            <a:ext cx="1497347" cy="908806"/>
          </a:xfrm>
          <a:prstGeom prst="rect">
            <a:avLst/>
          </a:prstGeom>
        </p:spPr>
        <p:txBody>
          <a:bodyPr anchor="t" rtlCol="false" tIns="0" lIns="0" bIns="0" rIns="0">
            <a:spAutoFit/>
          </a:bodyPr>
          <a:lstStyle/>
          <a:p>
            <a:pPr algn="ctr">
              <a:lnSpc>
                <a:spcPts val="6772"/>
              </a:lnSpc>
            </a:pPr>
            <a:r>
              <a:rPr lang="en-US" sz="6982">
                <a:solidFill>
                  <a:srgbClr val="2B3D73"/>
                </a:solidFill>
                <a:latin typeface="Anton"/>
                <a:ea typeface="Anton"/>
                <a:cs typeface="Anton"/>
                <a:sym typeface="Anton"/>
              </a:rPr>
              <a:t>C</a:t>
            </a:r>
          </a:p>
        </p:txBody>
      </p:sp>
      <p:sp>
        <p:nvSpPr>
          <p:cNvPr name="TextBox 32" id="32"/>
          <p:cNvSpPr txBox="true"/>
          <p:nvPr/>
        </p:nvSpPr>
        <p:spPr>
          <a:xfrm rot="0">
            <a:off x="11785591" y="7120571"/>
            <a:ext cx="1497347" cy="908806"/>
          </a:xfrm>
          <a:prstGeom prst="rect">
            <a:avLst/>
          </a:prstGeom>
        </p:spPr>
        <p:txBody>
          <a:bodyPr anchor="t" rtlCol="false" tIns="0" lIns="0" bIns="0" rIns="0">
            <a:spAutoFit/>
          </a:bodyPr>
          <a:lstStyle/>
          <a:p>
            <a:pPr algn="ctr">
              <a:lnSpc>
                <a:spcPts val="6772"/>
              </a:lnSpc>
            </a:pPr>
            <a:r>
              <a:rPr lang="en-US" sz="6982">
                <a:solidFill>
                  <a:srgbClr val="2B3D73"/>
                </a:solidFill>
                <a:latin typeface="Anton"/>
                <a:ea typeface="Anton"/>
                <a:cs typeface="Anton"/>
                <a:sym typeface="Anton"/>
              </a:rPr>
              <a:t>F</a:t>
            </a:r>
          </a:p>
        </p:txBody>
      </p:sp>
      <p:sp>
        <p:nvSpPr>
          <p:cNvPr name="TextBox 33" id="33"/>
          <p:cNvSpPr txBox="true"/>
          <p:nvPr/>
        </p:nvSpPr>
        <p:spPr>
          <a:xfrm rot="0">
            <a:off x="2070508" y="6801572"/>
            <a:ext cx="4065508" cy="1383157"/>
          </a:xfrm>
          <a:prstGeom prst="rect">
            <a:avLst/>
          </a:prstGeom>
        </p:spPr>
        <p:txBody>
          <a:bodyPr anchor="t" rtlCol="false" tIns="0" lIns="0" bIns="0" rIns="0">
            <a:spAutoFit/>
          </a:bodyPr>
          <a:lstStyle/>
          <a:p>
            <a:pPr algn="just">
              <a:lnSpc>
                <a:spcPts val="2198"/>
              </a:lnSpc>
            </a:pPr>
            <a:r>
              <a:rPr lang="en-US" sz="1570">
                <a:solidFill>
                  <a:srgbClr val="2B3D73"/>
                </a:solidFill>
                <a:latin typeface="Helvetica World"/>
                <a:ea typeface="Helvetica World"/>
                <a:cs typeface="Helvetica World"/>
                <a:sym typeface="Helvetica World"/>
              </a:rPr>
              <a:t>Generate Passwords</a:t>
            </a:r>
          </a:p>
          <a:p>
            <a:pPr algn="just">
              <a:lnSpc>
                <a:spcPts val="2198"/>
              </a:lnSpc>
            </a:pPr>
            <a:r>
              <a:rPr lang="en-US" sz="1570">
                <a:solidFill>
                  <a:srgbClr val="2B3D73"/>
                </a:solidFill>
                <a:latin typeface="Helvetica World"/>
                <a:ea typeface="Helvetica World"/>
                <a:cs typeface="Helvetica World"/>
                <a:sym typeface="Helvetica World"/>
              </a:rPr>
              <a:t>Offer strong, randomized password generation with configurable length and complexity settings.</a:t>
            </a:r>
          </a:p>
          <a:p>
            <a:pPr algn="just">
              <a:lnSpc>
                <a:spcPts val="2198"/>
              </a:lnSpc>
              <a:spcBef>
                <a:spcPct val="0"/>
              </a:spcBef>
            </a:pPr>
          </a:p>
        </p:txBody>
      </p:sp>
      <p:sp>
        <p:nvSpPr>
          <p:cNvPr name="TextBox 34" id="34"/>
          <p:cNvSpPr txBox="true"/>
          <p:nvPr/>
        </p:nvSpPr>
        <p:spPr>
          <a:xfrm rot="0">
            <a:off x="13088678" y="6797670"/>
            <a:ext cx="3976362" cy="1383157"/>
          </a:xfrm>
          <a:prstGeom prst="rect">
            <a:avLst/>
          </a:prstGeom>
        </p:spPr>
        <p:txBody>
          <a:bodyPr anchor="t" rtlCol="false" tIns="0" lIns="0" bIns="0" rIns="0">
            <a:spAutoFit/>
          </a:bodyPr>
          <a:lstStyle/>
          <a:p>
            <a:pPr algn="just">
              <a:lnSpc>
                <a:spcPts val="2198"/>
              </a:lnSpc>
            </a:pPr>
            <a:r>
              <a:rPr lang="en-US" sz="1570">
                <a:solidFill>
                  <a:srgbClr val="2B3D73"/>
                </a:solidFill>
                <a:latin typeface="Helvetica World"/>
                <a:ea typeface="Helvetica World"/>
                <a:cs typeface="Helvetica World"/>
                <a:sym typeface="Helvetica World"/>
              </a:rPr>
              <a:t>Secure Access</a:t>
            </a:r>
          </a:p>
          <a:p>
            <a:pPr algn="just">
              <a:lnSpc>
                <a:spcPts val="2198"/>
              </a:lnSpc>
            </a:pPr>
            <a:r>
              <a:rPr lang="en-US" sz="1570">
                <a:solidFill>
                  <a:srgbClr val="2B3D73"/>
                </a:solidFill>
                <a:latin typeface="Helvetica World"/>
                <a:ea typeface="Helvetica World"/>
                <a:cs typeface="Helvetica World"/>
                <a:sym typeface="Helvetica World"/>
              </a:rPr>
              <a:t>Implement role-based access control, session timeout, and breach detection alerts for protection.</a:t>
            </a:r>
          </a:p>
          <a:p>
            <a:pPr algn="just">
              <a:lnSpc>
                <a:spcPts val="2198"/>
              </a:lnSpc>
              <a:spcBef>
                <a:spcPct val="0"/>
              </a:spcBef>
            </a:pPr>
          </a:p>
        </p:txBody>
      </p:sp>
      <p:sp>
        <p:nvSpPr>
          <p:cNvPr name="AutoShape 35" id="35"/>
          <p:cNvSpPr/>
          <p:nvPr/>
        </p:nvSpPr>
        <p:spPr>
          <a:xfrm flipV="true">
            <a:off x="6502409" y="2244623"/>
            <a:ext cx="5283182" cy="0"/>
          </a:xfrm>
          <a:prstGeom prst="line">
            <a:avLst/>
          </a:prstGeom>
          <a:ln cap="flat" w="19050">
            <a:solidFill>
              <a:srgbClr val="45548D"/>
            </a:solidFill>
            <a:prstDash val="sysDash"/>
            <a:headEnd type="oval" len="lg" w="lg"/>
            <a:tailEnd type="oval" len="lg" w="lg"/>
          </a:ln>
        </p:spPr>
      </p:sp>
      <p:sp>
        <p:nvSpPr>
          <p:cNvPr name="AutoShape 36" id="36"/>
          <p:cNvSpPr/>
          <p:nvPr/>
        </p:nvSpPr>
        <p:spPr>
          <a:xfrm>
            <a:off x="6502409" y="7502676"/>
            <a:ext cx="5283182" cy="0"/>
          </a:xfrm>
          <a:prstGeom prst="line">
            <a:avLst/>
          </a:prstGeom>
          <a:ln cap="flat" w="19050">
            <a:solidFill>
              <a:srgbClr val="45548D"/>
            </a:solidFill>
            <a:prstDash val="sysDash"/>
            <a:headEnd type="oval" len="lg" w="lg"/>
            <a:tailEnd type="oval" len="lg" w="lg"/>
          </a:ln>
        </p:spPr>
      </p:sp>
      <p:sp>
        <p:nvSpPr>
          <p:cNvPr name="AutoShape 37" id="37"/>
          <p:cNvSpPr/>
          <p:nvPr/>
        </p:nvSpPr>
        <p:spPr>
          <a:xfrm>
            <a:off x="6502409" y="4871699"/>
            <a:ext cx="446710" cy="0"/>
          </a:xfrm>
          <a:prstGeom prst="line">
            <a:avLst/>
          </a:prstGeom>
          <a:ln cap="flat" w="19050">
            <a:solidFill>
              <a:srgbClr val="45548D"/>
            </a:solidFill>
            <a:prstDash val="sysDash"/>
            <a:headEnd type="oval" len="lg" w="lg"/>
            <a:tailEnd type="oval" len="lg" w="lg"/>
          </a:ln>
        </p:spPr>
      </p:sp>
      <p:sp>
        <p:nvSpPr>
          <p:cNvPr name="AutoShape 38" id="38"/>
          <p:cNvSpPr/>
          <p:nvPr/>
        </p:nvSpPr>
        <p:spPr>
          <a:xfrm flipV="true">
            <a:off x="11338881" y="4871699"/>
            <a:ext cx="446710" cy="0"/>
          </a:xfrm>
          <a:prstGeom prst="line">
            <a:avLst/>
          </a:prstGeom>
          <a:ln cap="flat" w="19050">
            <a:solidFill>
              <a:srgbClr val="45548D"/>
            </a:solidFill>
            <a:prstDash val="sysDash"/>
            <a:headEnd type="oval" len="lg" w="lg"/>
            <a:tailEnd type="oval" len="lg" w="lg"/>
          </a:ln>
        </p:spPr>
      </p:sp>
      <p:sp>
        <p:nvSpPr>
          <p:cNvPr name="Freeform 39" id="39"/>
          <p:cNvSpPr/>
          <p:nvPr/>
        </p:nvSpPr>
        <p:spPr>
          <a:xfrm flipH="false" flipV="false" rot="225008">
            <a:off x="9306415" y="8407584"/>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true" flipV="false" rot="0">
            <a:off x="-665641" y="-3755020"/>
            <a:ext cx="12760102" cy="5407093"/>
          </a:xfrm>
          <a:custGeom>
            <a:avLst/>
            <a:gdLst/>
            <a:ahLst/>
            <a:cxnLst/>
            <a:rect r="r" b="b" t="t" l="l"/>
            <a:pathLst>
              <a:path h="5407093" w="12760102">
                <a:moveTo>
                  <a:pt x="12760102" y="0"/>
                </a:moveTo>
                <a:lnTo>
                  <a:pt x="0" y="0"/>
                </a:lnTo>
                <a:lnTo>
                  <a:pt x="0" y="5407093"/>
                </a:lnTo>
                <a:lnTo>
                  <a:pt x="12760102" y="5407093"/>
                </a:lnTo>
                <a:lnTo>
                  <a:pt x="12760102" y="0"/>
                </a:lnTo>
                <a:close/>
              </a:path>
            </a:pathLst>
          </a:custGeom>
          <a:blipFill>
            <a:blip r:embed="rId2"/>
            <a:stretch>
              <a:fillRect l="0" t="0" r="0" b="0"/>
            </a:stretch>
          </a:blipFill>
        </p:spPr>
      </p:sp>
      <p:grpSp>
        <p:nvGrpSpPr>
          <p:cNvPr name="Group 3" id="3"/>
          <p:cNvGrpSpPr/>
          <p:nvPr/>
        </p:nvGrpSpPr>
        <p:grpSpPr>
          <a:xfrm rot="0">
            <a:off x="13037674" y="-392510"/>
            <a:ext cx="5416139" cy="11072020"/>
            <a:chOff x="0" y="0"/>
            <a:chExt cx="1426473" cy="2916088"/>
          </a:xfrm>
        </p:grpSpPr>
        <p:sp>
          <p:nvSpPr>
            <p:cNvPr name="Freeform 4" id="4"/>
            <p:cNvSpPr/>
            <p:nvPr/>
          </p:nvSpPr>
          <p:spPr>
            <a:xfrm flipH="false" flipV="false" rot="0">
              <a:off x="0" y="0"/>
              <a:ext cx="1426473" cy="2916088"/>
            </a:xfrm>
            <a:custGeom>
              <a:avLst/>
              <a:gdLst/>
              <a:ahLst/>
              <a:cxnLst/>
              <a:rect r="r" b="b" t="t" l="l"/>
              <a:pathLst>
                <a:path h="2916088" w="1426473">
                  <a:moveTo>
                    <a:pt x="0" y="0"/>
                  </a:moveTo>
                  <a:lnTo>
                    <a:pt x="1426473" y="0"/>
                  </a:lnTo>
                  <a:lnTo>
                    <a:pt x="1426473" y="2916088"/>
                  </a:lnTo>
                  <a:lnTo>
                    <a:pt x="0" y="2916088"/>
                  </a:lnTo>
                  <a:close/>
                </a:path>
              </a:pathLst>
            </a:custGeom>
            <a:solidFill>
              <a:srgbClr val="FFFFFF"/>
            </a:solidFill>
          </p:spPr>
        </p:sp>
        <p:sp>
          <p:nvSpPr>
            <p:cNvPr name="TextBox 5" id="5"/>
            <p:cNvSpPr txBox="true"/>
            <p:nvPr/>
          </p:nvSpPr>
          <p:spPr>
            <a:xfrm>
              <a:off x="0" y="-47625"/>
              <a:ext cx="1426473" cy="2963713"/>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13037674" y="6797333"/>
            <a:ext cx="5416139" cy="4038064"/>
          </a:xfrm>
          <a:prstGeom prst="rect">
            <a:avLst/>
          </a:prstGeom>
        </p:spPr>
        <p:txBody>
          <a:bodyPr anchor="t" rtlCol="false" tIns="0" lIns="0" bIns="0" rIns="0">
            <a:spAutoFit/>
          </a:bodyPr>
          <a:lstStyle/>
          <a:p>
            <a:pPr algn="ctr">
              <a:lnSpc>
                <a:spcPts val="30082"/>
              </a:lnSpc>
            </a:pPr>
            <a:r>
              <a:rPr lang="en-US" sz="31013">
                <a:solidFill>
                  <a:srgbClr val="2B3D73"/>
                </a:solidFill>
                <a:latin typeface="Anton"/>
                <a:ea typeface="Anton"/>
                <a:cs typeface="Anton"/>
                <a:sym typeface="Anton"/>
              </a:rPr>
              <a:t>10</a:t>
            </a:r>
          </a:p>
        </p:txBody>
      </p:sp>
      <p:sp>
        <p:nvSpPr>
          <p:cNvPr name="TextBox 7" id="7"/>
          <p:cNvSpPr txBox="true"/>
          <p:nvPr/>
        </p:nvSpPr>
        <p:spPr>
          <a:xfrm rot="0">
            <a:off x="597439" y="1000750"/>
            <a:ext cx="11664164" cy="2058495"/>
          </a:xfrm>
          <a:prstGeom prst="rect">
            <a:avLst/>
          </a:prstGeom>
        </p:spPr>
        <p:txBody>
          <a:bodyPr anchor="t" rtlCol="false" tIns="0" lIns="0" bIns="0" rIns="0">
            <a:spAutoFit/>
          </a:bodyPr>
          <a:lstStyle/>
          <a:p>
            <a:pPr algn="l">
              <a:lnSpc>
                <a:spcPts val="7984"/>
              </a:lnSpc>
            </a:pPr>
            <a:r>
              <a:rPr lang="en-US" sz="8231">
                <a:solidFill>
                  <a:srgbClr val="FFFFFF"/>
                </a:solidFill>
                <a:latin typeface="Anton"/>
                <a:ea typeface="Anton"/>
                <a:cs typeface="Anton"/>
                <a:sym typeface="Anton"/>
              </a:rPr>
              <a:t> SECURITY</a:t>
            </a:r>
          </a:p>
          <a:p>
            <a:pPr algn="l">
              <a:lnSpc>
                <a:spcPts val="7984"/>
              </a:lnSpc>
            </a:pPr>
            <a:r>
              <a:rPr lang="en-US" sz="8231">
                <a:solidFill>
                  <a:srgbClr val="FFFFFF"/>
                </a:solidFill>
                <a:latin typeface="Anton"/>
                <a:ea typeface="Anton"/>
                <a:cs typeface="Anton"/>
                <a:sym typeface="Anton"/>
              </a:rPr>
              <a:t> IMPLEMENTATION</a:t>
            </a:r>
          </a:p>
        </p:txBody>
      </p:sp>
      <p:sp>
        <p:nvSpPr>
          <p:cNvPr name="TextBox 8" id="8"/>
          <p:cNvSpPr txBox="true"/>
          <p:nvPr/>
        </p:nvSpPr>
        <p:spPr>
          <a:xfrm rot="0">
            <a:off x="1222775" y="3669423"/>
            <a:ext cx="10563285" cy="4123483"/>
          </a:xfrm>
          <a:prstGeom prst="rect">
            <a:avLst/>
          </a:prstGeom>
        </p:spPr>
        <p:txBody>
          <a:bodyPr anchor="t" rtlCol="false" tIns="0" lIns="0" bIns="0" rIns="0">
            <a:spAutoFit/>
          </a:bodyPr>
          <a:lstStyle/>
          <a:p>
            <a:pPr algn="l">
              <a:lnSpc>
                <a:spcPts val="4596"/>
              </a:lnSpc>
            </a:pPr>
            <a:r>
              <a:rPr lang="en-US" b="true" sz="3283">
                <a:solidFill>
                  <a:srgbClr val="FFFFFF"/>
                </a:solidFill>
                <a:latin typeface="Helvetica World Bold"/>
                <a:ea typeface="Helvetica World Bold"/>
                <a:cs typeface="Helvetica World Bold"/>
                <a:sym typeface="Helvetica World Bold"/>
              </a:rPr>
              <a:t>Security mechanisms implemented:</a:t>
            </a:r>
          </a:p>
          <a:p>
            <a:pPr algn="l">
              <a:lnSpc>
                <a:spcPts val="3476"/>
              </a:lnSpc>
            </a:pPr>
          </a:p>
          <a:p>
            <a:pPr algn="l" marL="536113" indent="-268056" lvl="1">
              <a:lnSpc>
                <a:spcPts val="3476"/>
              </a:lnSpc>
              <a:buFont typeface="Arial"/>
              <a:buChar char="•"/>
            </a:pPr>
            <a:r>
              <a:rPr lang="en-US" sz="2483">
                <a:solidFill>
                  <a:srgbClr val="FFFFFF"/>
                </a:solidFill>
                <a:latin typeface="Helvetica World"/>
                <a:ea typeface="Helvetica World"/>
                <a:cs typeface="Helvetica World"/>
                <a:sym typeface="Helvetica World"/>
              </a:rPr>
              <a:t>BCrypt hashing for storing master passwords securely</a:t>
            </a:r>
          </a:p>
          <a:p>
            <a:pPr algn="l" marL="536113" indent="-268056" lvl="1">
              <a:lnSpc>
                <a:spcPts val="3476"/>
              </a:lnSpc>
              <a:buFont typeface="Arial"/>
              <a:buChar char="•"/>
            </a:pPr>
            <a:r>
              <a:rPr lang="en-US" sz="2483">
                <a:solidFill>
                  <a:srgbClr val="FFFFFF"/>
                </a:solidFill>
                <a:latin typeface="Helvetica World"/>
                <a:ea typeface="Helvetica World"/>
                <a:cs typeface="Helvetica World"/>
                <a:sym typeface="Helvetica World"/>
              </a:rPr>
              <a:t>AES encryption for storing vault passwords</a:t>
            </a:r>
          </a:p>
          <a:p>
            <a:pPr algn="l" marL="536113" indent="-268056" lvl="1">
              <a:lnSpc>
                <a:spcPts val="3476"/>
              </a:lnSpc>
              <a:buFont typeface="Arial"/>
              <a:buChar char="•"/>
            </a:pPr>
            <a:r>
              <a:rPr lang="en-US" sz="2483">
                <a:solidFill>
                  <a:srgbClr val="FFFFFF"/>
                </a:solidFill>
                <a:latin typeface="Helvetica World"/>
                <a:ea typeface="Helvetica World"/>
                <a:cs typeface="Helvetica World"/>
                <a:sym typeface="Helvetica World"/>
              </a:rPr>
              <a:t>Two-Factor Authentication using OTP</a:t>
            </a:r>
          </a:p>
          <a:p>
            <a:pPr algn="l" marL="536113" indent="-268056" lvl="1">
              <a:lnSpc>
                <a:spcPts val="3476"/>
              </a:lnSpc>
              <a:buFont typeface="Arial"/>
              <a:buChar char="•"/>
            </a:pPr>
            <a:r>
              <a:rPr lang="en-US" sz="2483">
                <a:solidFill>
                  <a:srgbClr val="FFFFFF"/>
                </a:solidFill>
                <a:latin typeface="Helvetica World"/>
                <a:ea typeface="Helvetica World"/>
                <a:cs typeface="Helvetica World"/>
                <a:sym typeface="Helvetica World"/>
              </a:rPr>
              <a:t>Security questions for password recovery</a:t>
            </a:r>
          </a:p>
          <a:p>
            <a:pPr algn="l" marL="536113" indent="-268056" lvl="1">
              <a:lnSpc>
                <a:spcPts val="3476"/>
              </a:lnSpc>
              <a:buFont typeface="Arial"/>
              <a:buChar char="•"/>
            </a:pPr>
            <a:r>
              <a:rPr lang="en-US" sz="2483">
                <a:solidFill>
                  <a:srgbClr val="FFFFFF"/>
                </a:solidFill>
                <a:latin typeface="Helvetica World"/>
                <a:ea typeface="Helvetica World"/>
                <a:cs typeface="Helvetica World"/>
                <a:sym typeface="Helvetica World"/>
              </a:rPr>
              <a:t>DTO-level validation for secure API communication</a:t>
            </a:r>
          </a:p>
          <a:p>
            <a:pPr algn="l" marL="536113" indent="-268056" lvl="1">
              <a:lnSpc>
                <a:spcPts val="3476"/>
              </a:lnSpc>
              <a:buFont typeface="Arial"/>
              <a:buChar char="•"/>
            </a:pPr>
            <a:r>
              <a:rPr lang="en-US" sz="2483">
                <a:solidFill>
                  <a:srgbClr val="FFFFFF"/>
                </a:solidFill>
                <a:latin typeface="Helvetica World"/>
                <a:ea typeface="Helvetica World"/>
                <a:cs typeface="Helvetica World"/>
                <a:sym typeface="Helvetica World"/>
              </a:rPr>
              <a:t>Complete separation of frontend and backend</a:t>
            </a:r>
          </a:p>
          <a:p>
            <a:pPr algn="l">
              <a:lnSpc>
                <a:spcPts val="3476"/>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grpSp>
        <p:nvGrpSpPr>
          <p:cNvPr name="Group 2" id="2"/>
          <p:cNvGrpSpPr/>
          <p:nvPr/>
        </p:nvGrpSpPr>
        <p:grpSpPr>
          <a:xfrm rot="0">
            <a:off x="0" y="-392510"/>
            <a:ext cx="5212196" cy="11072020"/>
            <a:chOff x="0" y="0"/>
            <a:chExt cx="1372759" cy="2916088"/>
          </a:xfrm>
        </p:grpSpPr>
        <p:sp>
          <p:nvSpPr>
            <p:cNvPr name="Freeform 3" id="3"/>
            <p:cNvSpPr/>
            <p:nvPr/>
          </p:nvSpPr>
          <p:spPr>
            <a:xfrm flipH="false" flipV="false" rot="0">
              <a:off x="0" y="0"/>
              <a:ext cx="1372759" cy="2916088"/>
            </a:xfrm>
            <a:custGeom>
              <a:avLst/>
              <a:gdLst/>
              <a:ahLst/>
              <a:cxnLst/>
              <a:rect r="r" b="b" t="t" l="l"/>
              <a:pathLst>
                <a:path h="2916088" w="1372759">
                  <a:moveTo>
                    <a:pt x="0" y="0"/>
                  </a:moveTo>
                  <a:lnTo>
                    <a:pt x="1372759" y="0"/>
                  </a:lnTo>
                  <a:lnTo>
                    <a:pt x="1372759" y="2916088"/>
                  </a:lnTo>
                  <a:lnTo>
                    <a:pt x="0" y="2916088"/>
                  </a:lnTo>
                  <a:close/>
                </a:path>
              </a:pathLst>
            </a:custGeom>
            <a:solidFill>
              <a:srgbClr val="FFFFFF"/>
            </a:solidFill>
          </p:spPr>
        </p:sp>
        <p:sp>
          <p:nvSpPr>
            <p:cNvPr name="TextBox 4" id="4"/>
            <p:cNvSpPr txBox="true"/>
            <p:nvPr/>
          </p:nvSpPr>
          <p:spPr>
            <a:xfrm>
              <a:off x="0" y="-47625"/>
              <a:ext cx="1372759" cy="2963713"/>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10269688">
            <a:off x="5379815" y="8845130"/>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TextBox 6" id="6"/>
          <p:cNvSpPr txBox="true"/>
          <p:nvPr/>
        </p:nvSpPr>
        <p:spPr>
          <a:xfrm rot="0">
            <a:off x="5547249" y="1039450"/>
            <a:ext cx="8180293" cy="1939700"/>
          </a:xfrm>
          <a:prstGeom prst="rect">
            <a:avLst/>
          </a:prstGeom>
        </p:spPr>
        <p:txBody>
          <a:bodyPr anchor="t" rtlCol="false" tIns="0" lIns="0" bIns="0" rIns="0">
            <a:spAutoFit/>
          </a:bodyPr>
          <a:lstStyle/>
          <a:p>
            <a:pPr algn="l">
              <a:lnSpc>
                <a:spcPts val="7478"/>
              </a:lnSpc>
            </a:pPr>
            <a:r>
              <a:rPr lang="en-US" sz="7709">
                <a:solidFill>
                  <a:srgbClr val="FFFFFF"/>
                </a:solidFill>
                <a:latin typeface="Anton"/>
                <a:ea typeface="Anton"/>
                <a:cs typeface="Anton"/>
                <a:sym typeface="Anton"/>
              </a:rPr>
              <a:t>USER REGISTRATION FLOW</a:t>
            </a:r>
          </a:p>
        </p:txBody>
      </p:sp>
      <p:sp>
        <p:nvSpPr>
          <p:cNvPr name="Freeform 7" id="7"/>
          <p:cNvSpPr/>
          <p:nvPr/>
        </p:nvSpPr>
        <p:spPr>
          <a:xfrm flipH="false" flipV="false" rot="4362236">
            <a:off x="15982771" y="-1287108"/>
            <a:ext cx="7735476" cy="4631616"/>
          </a:xfrm>
          <a:custGeom>
            <a:avLst/>
            <a:gdLst/>
            <a:ahLst/>
            <a:cxnLst/>
            <a:rect r="r" b="b" t="t" l="l"/>
            <a:pathLst>
              <a:path h="4631616" w="7735476">
                <a:moveTo>
                  <a:pt x="0" y="0"/>
                </a:moveTo>
                <a:lnTo>
                  <a:pt x="7735475" y="0"/>
                </a:lnTo>
                <a:lnTo>
                  <a:pt x="7735475" y="4631616"/>
                </a:lnTo>
                <a:lnTo>
                  <a:pt x="0" y="4631616"/>
                </a:lnTo>
                <a:lnTo>
                  <a:pt x="0" y="0"/>
                </a:lnTo>
                <a:close/>
              </a:path>
            </a:pathLst>
          </a:custGeom>
          <a:blipFill>
            <a:blip r:embed="rId3"/>
            <a:stretch>
              <a:fillRect l="0" t="0" r="0" b="0"/>
            </a:stretch>
          </a:blipFill>
        </p:spPr>
      </p:sp>
      <p:sp>
        <p:nvSpPr>
          <p:cNvPr name="TextBox 8" id="8"/>
          <p:cNvSpPr txBox="true"/>
          <p:nvPr/>
        </p:nvSpPr>
        <p:spPr>
          <a:xfrm rot="0">
            <a:off x="0" y="6573675"/>
            <a:ext cx="5247716" cy="3929268"/>
          </a:xfrm>
          <a:prstGeom prst="rect">
            <a:avLst/>
          </a:prstGeom>
        </p:spPr>
        <p:txBody>
          <a:bodyPr anchor="t" rtlCol="false" tIns="0" lIns="0" bIns="0" rIns="0">
            <a:spAutoFit/>
          </a:bodyPr>
          <a:lstStyle/>
          <a:p>
            <a:pPr algn="ctr">
              <a:lnSpc>
                <a:spcPts val="29147"/>
              </a:lnSpc>
            </a:pPr>
            <a:r>
              <a:rPr lang="en-US" sz="30048">
                <a:solidFill>
                  <a:srgbClr val="45548D"/>
                </a:solidFill>
                <a:latin typeface="Anton"/>
                <a:ea typeface="Anton"/>
                <a:cs typeface="Anton"/>
                <a:sym typeface="Anton"/>
              </a:rPr>
              <a:t>11</a:t>
            </a:r>
          </a:p>
        </p:txBody>
      </p:sp>
      <p:sp>
        <p:nvSpPr>
          <p:cNvPr name="TextBox 9" id="9"/>
          <p:cNvSpPr txBox="true"/>
          <p:nvPr/>
        </p:nvSpPr>
        <p:spPr>
          <a:xfrm rot="0">
            <a:off x="6167567" y="4138510"/>
            <a:ext cx="13545467" cy="3517780"/>
          </a:xfrm>
          <a:prstGeom prst="rect">
            <a:avLst/>
          </a:prstGeom>
        </p:spPr>
        <p:txBody>
          <a:bodyPr anchor="t" rtlCol="false" tIns="0" lIns="0" bIns="0" rIns="0">
            <a:spAutoFit/>
          </a:bodyPr>
          <a:lstStyle/>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User enters registration details.</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Frontend performs initial validation.</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Backend validates input using DTO annotations.</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Master password is hashed using BCrypt.</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Security question answers are hashed and stored.</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User data is saved securely in Oracle database.</a:t>
            </a:r>
          </a:p>
          <a:p>
            <a:pPr algn="just">
              <a:lnSpc>
                <a:spcPts val="4031"/>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grpSp>
        <p:nvGrpSpPr>
          <p:cNvPr name="Group 2" id="2"/>
          <p:cNvGrpSpPr/>
          <p:nvPr/>
        </p:nvGrpSpPr>
        <p:grpSpPr>
          <a:xfrm rot="0">
            <a:off x="0" y="-392510"/>
            <a:ext cx="5212196" cy="11072020"/>
            <a:chOff x="0" y="0"/>
            <a:chExt cx="1372759" cy="2916088"/>
          </a:xfrm>
        </p:grpSpPr>
        <p:sp>
          <p:nvSpPr>
            <p:cNvPr name="Freeform 3" id="3"/>
            <p:cNvSpPr/>
            <p:nvPr/>
          </p:nvSpPr>
          <p:spPr>
            <a:xfrm flipH="false" flipV="false" rot="0">
              <a:off x="0" y="0"/>
              <a:ext cx="1372759" cy="2916088"/>
            </a:xfrm>
            <a:custGeom>
              <a:avLst/>
              <a:gdLst/>
              <a:ahLst/>
              <a:cxnLst/>
              <a:rect r="r" b="b" t="t" l="l"/>
              <a:pathLst>
                <a:path h="2916088" w="1372759">
                  <a:moveTo>
                    <a:pt x="0" y="0"/>
                  </a:moveTo>
                  <a:lnTo>
                    <a:pt x="1372759" y="0"/>
                  </a:lnTo>
                  <a:lnTo>
                    <a:pt x="1372759" y="2916088"/>
                  </a:lnTo>
                  <a:lnTo>
                    <a:pt x="0" y="2916088"/>
                  </a:lnTo>
                  <a:close/>
                </a:path>
              </a:pathLst>
            </a:custGeom>
            <a:solidFill>
              <a:srgbClr val="FFFFFF"/>
            </a:solidFill>
          </p:spPr>
        </p:sp>
        <p:sp>
          <p:nvSpPr>
            <p:cNvPr name="TextBox 4" id="4"/>
            <p:cNvSpPr txBox="true"/>
            <p:nvPr/>
          </p:nvSpPr>
          <p:spPr>
            <a:xfrm>
              <a:off x="0" y="-47625"/>
              <a:ext cx="1372759" cy="2963713"/>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10269688">
            <a:off x="6809670" y="8604483"/>
            <a:ext cx="12760102" cy="5407093"/>
          </a:xfrm>
          <a:custGeom>
            <a:avLst/>
            <a:gdLst/>
            <a:ahLst/>
            <a:cxnLst/>
            <a:rect r="r" b="b" t="t" l="l"/>
            <a:pathLst>
              <a:path h="5407093" w="12760102">
                <a:moveTo>
                  <a:pt x="0" y="0"/>
                </a:moveTo>
                <a:lnTo>
                  <a:pt x="12760103" y="0"/>
                </a:lnTo>
                <a:lnTo>
                  <a:pt x="12760103" y="5407093"/>
                </a:lnTo>
                <a:lnTo>
                  <a:pt x="0" y="5407093"/>
                </a:lnTo>
                <a:lnTo>
                  <a:pt x="0" y="0"/>
                </a:lnTo>
                <a:close/>
              </a:path>
            </a:pathLst>
          </a:custGeom>
          <a:blipFill>
            <a:blip r:embed="rId2"/>
            <a:stretch>
              <a:fillRect l="0" t="0" r="0" b="0"/>
            </a:stretch>
          </a:blipFill>
        </p:spPr>
      </p:sp>
      <p:sp>
        <p:nvSpPr>
          <p:cNvPr name="TextBox 6" id="6"/>
          <p:cNvSpPr txBox="true"/>
          <p:nvPr/>
        </p:nvSpPr>
        <p:spPr>
          <a:xfrm rot="0">
            <a:off x="5565864" y="1489834"/>
            <a:ext cx="9984937" cy="1224826"/>
          </a:xfrm>
          <a:prstGeom prst="rect">
            <a:avLst/>
          </a:prstGeom>
        </p:spPr>
        <p:txBody>
          <a:bodyPr anchor="t" rtlCol="false" tIns="0" lIns="0" bIns="0" rIns="0">
            <a:spAutoFit/>
          </a:bodyPr>
          <a:lstStyle/>
          <a:p>
            <a:pPr algn="l">
              <a:lnSpc>
                <a:spcPts val="9128"/>
              </a:lnSpc>
            </a:pPr>
            <a:r>
              <a:rPr lang="en-US" sz="9410">
                <a:solidFill>
                  <a:srgbClr val="FFFFFF"/>
                </a:solidFill>
                <a:latin typeface="Anton"/>
                <a:ea typeface="Anton"/>
                <a:cs typeface="Anton"/>
                <a:sym typeface="Anton"/>
              </a:rPr>
              <a:t>LOGIN &amp; OTP FLOW</a:t>
            </a:r>
          </a:p>
        </p:txBody>
      </p:sp>
      <p:sp>
        <p:nvSpPr>
          <p:cNvPr name="Freeform 7" id="7"/>
          <p:cNvSpPr/>
          <p:nvPr/>
        </p:nvSpPr>
        <p:spPr>
          <a:xfrm flipH="false" flipV="false" rot="4362236">
            <a:off x="14758306" y="-359197"/>
            <a:ext cx="7735476" cy="4631616"/>
          </a:xfrm>
          <a:custGeom>
            <a:avLst/>
            <a:gdLst/>
            <a:ahLst/>
            <a:cxnLst/>
            <a:rect r="r" b="b" t="t" l="l"/>
            <a:pathLst>
              <a:path h="4631616" w="7735476">
                <a:moveTo>
                  <a:pt x="0" y="0"/>
                </a:moveTo>
                <a:lnTo>
                  <a:pt x="7735475" y="0"/>
                </a:lnTo>
                <a:lnTo>
                  <a:pt x="7735475" y="4631616"/>
                </a:lnTo>
                <a:lnTo>
                  <a:pt x="0" y="4631616"/>
                </a:lnTo>
                <a:lnTo>
                  <a:pt x="0" y="0"/>
                </a:lnTo>
                <a:close/>
              </a:path>
            </a:pathLst>
          </a:custGeom>
          <a:blipFill>
            <a:blip r:embed="rId3"/>
            <a:stretch>
              <a:fillRect l="0" t="0" r="0" b="0"/>
            </a:stretch>
          </a:blipFill>
        </p:spPr>
      </p:sp>
      <p:sp>
        <p:nvSpPr>
          <p:cNvPr name="TextBox 8" id="8"/>
          <p:cNvSpPr txBox="true"/>
          <p:nvPr/>
        </p:nvSpPr>
        <p:spPr>
          <a:xfrm rot="0">
            <a:off x="141393" y="6613867"/>
            <a:ext cx="4910360" cy="3673133"/>
          </a:xfrm>
          <a:prstGeom prst="rect">
            <a:avLst/>
          </a:prstGeom>
        </p:spPr>
        <p:txBody>
          <a:bodyPr anchor="t" rtlCol="false" tIns="0" lIns="0" bIns="0" rIns="0">
            <a:spAutoFit/>
          </a:bodyPr>
          <a:lstStyle/>
          <a:p>
            <a:pPr algn="ctr">
              <a:lnSpc>
                <a:spcPts val="27273"/>
              </a:lnSpc>
            </a:pPr>
            <a:r>
              <a:rPr lang="en-US" sz="28117">
                <a:solidFill>
                  <a:srgbClr val="45548D"/>
                </a:solidFill>
                <a:latin typeface="Anton"/>
                <a:ea typeface="Anton"/>
                <a:cs typeface="Anton"/>
                <a:sym typeface="Anton"/>
              </a:rPr>
              <a:t>12</a:t>
            </a:r>
          </a:p>
        </p:txBody>
      </p:sp>
      <p:sp>
        <p:nvSpPr>
          <p:cNvPr name="TextBox 9" id="9"/>
          <p:cNvSpPr txBox="true"/>
          <p:nvPr/>
        </p:nvSpPr>
        <p:spPr>
          <a:xfrm rot="0">
            <a:off x="6416988" y="3701609"/>
            <a:ext cx="13545467" cy="3517780"/>
          </a:xfrm>
          <a:prstGeom prst="rect">
            <a:avLst/>
          </a:prstGeom>
        </p:spPr>
        <p:txBody>
          <a:bodyPr anchor="t" rtlCol="false" tIns="0" lIns="0" bIns="0" rIns="0">
            <a:spAutoFit/>
          </a:bodyPr>
          <a:lstStyle/>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User enters username and password.</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Backend verifies hashed password.</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If 2FA is enabled, OTP is generated.</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OTP is v</a:t>
            </a:r>
            <a:r>
              <a:rPr lang="en-US" sz="2879">
                <a:solidFill>
                  <a:srgbClr val="FFFFFF"/>
                </a:solidFill>
                <a:latin typeface="Helvetica World"/>
                <a:ea typeface="Helvetica World"/>
                <a:cs typeface="Helvetica World"/>
                <a:sym typeface="Helvetica World"/>
              </a:rPr>
              <a:t>erified within expiration time.</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Session is created after successful verification.</a:t>
            </a:r>
          </a:p>
          <a:p>
            <a:pPr algn="just" marL="621730" indent="-310865" lvl="1">
              <a:lnSpc>
                <a:spcPts val="4031"/>
              </a:lnSpc>
              <a:buFont typeface="Arial"/>
              <a:buChar char="•"/>
            </a:pPr>
            <a:r>
              <a:rPr lang="en-US" sz="2879">
                <a:solidFill>
                  <a:srgbClr val="FFFFFF"/>
                </a:solidFill>
                <a:latin typeface="Helvetica World"/>
                <a:ea typeface="Helvetica World"/>
                <a:cs typeface="Helvetica World"/>
                <a:sym typeface="Helvetica World"/>
              </a:rPr>
              <a:t>User gains secure access to vault.</a:t>
            </a:r>
          </a:p>
          <a:p>
            <a:pPr algn="just">
              <a:lnSpc>
                <a:spcPts val="4031"/>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grpSp>
        <p:nvGrpSpPr>
          <p:cNvPr name="Group 2" id="2"/>
          <p:cNvGrpSpPr/>
          <p:nvPr/>
        </p:nvGrpSpPr>
        <p:grpSpPr>
          <a:xfrm rot="0">
            <a:off x="0" y="-392510"/>
            <a:ext cx="5212196" cy="11072020"/>
            <a:chOff x="0" y="0"/>
            <a:chExt cx="1372759" cy="2916088"/>
          </a:xfrm>
        </p:grpSpPr>
        <p:sp>
          <p:nvSpPr>
            <p:cNvPr name="Freeform 3" id="3"/>
            <p:cNvSpPr/>
            <p:nvPr/>
          </p:nvSpPr>
          <p:spPr>
            <a:xfrm flipH="false" flipV="false" rot="0">
              <a:off x="0" y="0"/>
              <a:ext cx="1372759" cy="2916088"/>
            </a:xfrm>
            <a:custGeom>
              <a:avLst/>
              <a:gdLst/>
              <a:ahLst/>
              <a:cxnLst/>
              <a:rect r="r" b="b" t="t" l="l"/>
              <a:pathLst>
                <a:path h="2916088" w="1372759">
                  <a:moveTo>
                    <a:pt x="0" y="0"/>
                  </a:moveTo>
                  <a:lnTo>
                    <a:pt x="1372759" y="0"/>
                  </a:lnTo>
                  <a:lnTo>
                    <a:pt x="1372759" y="2916088"/>
                  </a:lnTo>
                  <a:lnTo>
                    <a:pt x="0" y="2916088"/>
                  </a:lnTo>
                  <a:close/>
                </a:path>
              </a:pathLst>
            </a:custGeom>
            <a:solidFill>
              <a:srgbClr val="FFFFFF"/>
            </a:solidFill>
          </p:spPr>
        </p:sp>
        <p:sp>
          <p:nvSpPr>
            <p:cNvPr name="TextBox 4" id="4"/>
            <p:cNvSpPr txBox="true"/>
            <p:nvPr/>
          </p:nvSpPr>
          <p:spPr>
            <a:xfrm>
              <a:off x="0" y="-47625"/>
              <a:ext cx="1372759" cy="2963713"/>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10269688">
            <a:off x="5429058" y="9043721"/>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TextBox 6" id="6"/>
          <p:cNvSpPr txBox="true"/>
          <p:nvPr/>
        </p:nvSpPr>
        <p:spPr>
          <a:xfrm rot="0">
            <a:off x="5567108" y="531020"/>
            <a:ext cx="10692133" cy="2509996"/>
          </a:xfrm>
          <a:prstGeom prst="rect">
            <a:avLst/>
          </a:prstGeom>
        </p:spPr>
        <p:txBody>
          <a:bodyPr anchor="t" rtlCol="false" tIns="0" lIns="0" bIns="0" rIns="0">
            <a:spAutoFit/>
          </a:bodyPr>
          <a:lstStyle/>
          <a:p>
            <a:pPr algn="l">
              <a:lnSpc>
                <a:spcPts val="9652"/>
              </a:lnSpc>
            </a:pPr>
            <a:r>
              <a:rPr lang="en-US" sz="9951">
                <a:solidFill>
                  <a:srgbClr val="FFFFFF"/>
                </a:solidFill>
                <a:latin typeface="Anton"/>
                <a:ea typeface="Anton"/>
                <a:cs typeface="Anton"/>
                <a:sym typeface="Anton"/>
              </a:rPr>
              <a:t>PASSWORD VAULT  FLOW</a:t>
            </a:r>
          </a:p>
        </p:txBody>
      </p:sp>
      <p:sp>
        <p:nvSpPr>
          <p:cNvPr name="Freeform 7" id="7"/>
          <p:cNvSpPr/>
          <p:nvPr/>
        </p:nvSpPr>
        <p:spPr>
          <a:xfrm flipH="false" flipV="false" rot="4362236">
            <a:off x="15893809" y="-1828770"/>
            <a:ext cx="7735476" cy="4631616"/>
          </a:xfrm>
          <a:custGeom>
            <a:avLst/>
            <a:gdLst/>
            <a:ahLst/>
            <a:cxnLst/>
            <a:rect r="r" b="b" t="t" l="l"/>
            <a:pathLst>
              <a:path h="4631616" w="7735476">
                <a:moveTo>
                  <a:pt x="0" y="0"/>
                </a:moveTo>
                <a:lnTo>
                  <a:pt x="7735476" y="0"/>
                </a:lnTo>
                <a:lnTo>
                  <a:pt x="7735476" y="4631616"/>
                </a:lnTo>
                <a:lnTo>
                  <a:pt x="0" y="4631616"/>
                </a:lnTo>
                <a:lnTo>
                  <a:pt x="0" y="0"/>
                </a:lnTo>
                <a:close/>
              </a:path>
            </a:pathLst>
          </a:custGeom>
          <a:blipFill>
            <a:blip r:embed="rId3"/>
            <a:stretch>
              <a:fillRect l="0" t="0" r="0" b="0"/>
            </a:stretch>
          </a:blipFill>
        </p:spPr>
      </p:sp>
      <p:sp>
        <p:nvSpPr>
          <p:cNvPr name="TextBox 8" id="8"/>
          <p:cNvSpPr txBox="true"/>
          <p:nvPr/>
        </p:nvSpPr>
        <p:spPr>
          <a:xfrm rot="0">
            <a:off x="-4911" y="6885805"/>
            <a:ext cx="5084805" cy="3793705"/>
          </a:xfrm>
          <a:prstGeom prst="rect">
            <a:avLst/>
          </a:prstGeom>
        </p:spPr>
        <p:txBody>
          <a:bodyPr anchor="t" rtlCol="false" tIns="0" lIns="0" bIns="0" rIns="0">
            <a:spAutoFit/>
          </a:bodyPr>
          <a:lstStyle/>
          <a:p>
            <a:pPr algn="ctr">
              <a:lnSpc>
                <a:spcPts val="28242"/>
              </a:lnSpc>
            </a:pPr>
            <a:r>
              <a:rPr lang="en-US" sz="29116">
                <a:solidFill>
                  <a:srgbClr val="2B3D73"/>
                </a:solidFill>
                <a:latin typeface="Anton"/>
                <a:ea typeface="Anton"/>
                <a:cs typeface="Anton"/>
                <a:sym typeface="Anton"/>
              </a:rPr>
              <a:t>13</a:t>
            </a:r>
          </a:p>
        </p:txBody>
      </p:sp>
      <p:sp>
        <p:nvSpPr>
          <p:cNvPr name="TextBox 9" id="9"/>
          <p:cNvSpPr txBox="true"/>
          <p:nvPr/>
        </p:nvSpPr>
        <p:spPr>
          <a:xfrm rot="0">
            <a:off x="6167567" y="4128985"/>
            <a:ext cx="15099053" cy="3413618"/>
          </a:xfrm>
          <a:prstGeom prst="rect">
            <a:avLst/>
          </a:prstGeom>
        </p:spPr>
        <p:txBody>
          <a:bodyPr anchor="t" rtlCol="false" tIns="0" lIns="0" bIns="0" rIns="0">
            <a:spAutoFit/>
          </a:bodyPr>
          <a:lstStyle/>
          <a:p>
            <a:pPr algn="just" marL="697481" indent="-348740" lvl="1">
              <a:lnSpc>
                <a:spcPts val="4522"/>
              </a:lnSpc>
              <a:buFont typeface="Arial"/>
              <a:buChar char="•"/>
            </a:pPr>
            <a:r>
              <a:rPr lang="en-US" sz="3230">
                <a:solidFill>
                  <a:srgbClr val="FFFFFF"/>
                </a:solidFill>
                <a:latin typeface="Helvetica World"/>
                <a:ea typeface="Helvetica World"/>
                <a:cs typeface="Helvetica World"/>
                <a:sym typeface="Helvetica World"/>
              </a:rPr>
              <a:t>User adds a new password entry.</a:t>
            </a:r>
          </a:p>
          <a:p>
            <a:pPr algn="just" marL="697481" indent="-348740" lvl="1">
              <a:lnSpc>
                <a:spcPts val="4522"/>
              </a:lnSpc>
              <a:buFont typeface="Arial"/>
              <a:buChar char="•"/>
            </a:pPr>
            <a:r>
              <a:rPr lang="en-US" sz="3230">
                <a:solidFill>
                  <a:srgbClr val="FFFFFF"/>
                </a:solidFill>
                <a:latin typeface="Helvetica World"/>
                <a:ea typeface="Helvetica World"/>
                <a:cs typeface="Helvetica World"/>
                <a:sym typeface="Helvetica World"/>
              </a:rPr>
              <a:t>Password is encrypted using AES before saving.</a:t>
            </a:r>
          </a:p>
          <a:p>
            <a:pPr algn="just" marL="697481" indent="-348740" lvl="1">
              <a:lnSpc>
                <a:spcPts val="4522"/>
              </a:lnSpc>
              <a:buFont typeface="Arial"/>
              <a:buChar char="•"/>
            </a:pPr>
            <a:r>
              <a:rPr lang="en-US" sz="3230">
                <a:solidFill>
                  <a:srgbClr val="FFFFFF"/>
                </a:solidFill>
                <a:latin typeface="Helvetica World"/>
                <a:ea typeface="Helvetica World"/>
                <a:cs typeface="Helvetica World"/>
                <a:sym typeface="Helvetica World"/>
              </a:rPr>
              <a:t>En</a:t>
            </a:r>
            <a:r>
              <a:rPr lang="en-US" sz="3230">
                <a:solidFill>
                  <a:srgbClr val="FFFFFF"/>
                </a:solidFill>
                <a:latin typeface="Helvetica World"/>
                <a:ea typeface="Helvetica World"/>
                <a:cs typeface="Helvetica World"/>
                <a:sym typeface="Helvetica World"/>
              </a:rPr>
              <a:t>crypted value is stored in the database.</a:t>
            </a:r>
          </a:p>
          <a:p>
            <a:pPr algn="just" marL="697481" indent="-348740" lvl="1">
              <a:lnSpc>
                <a:spcPts val="4522"/>
              </a:lnSpc>
              <a:buFont typeface="Arial"/>
              <a:buChar char="•"/>
            </a:pPr>
            <a:r>
              <a:rPr lang="en-US" sz="3230">
                <a:solidFill>
                  <a:srgbClr val="FFFFFF"/>
                </a:solidFill>
                <a:latin typeface="Helvetica World"/>
                <a:ea typeface="Helvetica World"/>
                <a:cs typeface="Helvetica World"/>
                <a:sym typeface="Helvetica World"/>
              </a:rPr>
              <a:t>During re</a:t>
            </a:r>
            <a:r>
              <a:rPr lang="en-US" sz="3230">
                <a:solidFill>
                  <a:srgbClr val="FFFFFF"/>
                </a:solidFill>
                <a:latin typeface="Helvetica World"/>
                <a:ea typeface="Helvetica World"/>
                <a:cs typeface="Helvetica World"/>
                <a:sym typeface="Helvetica World"/>
              </a:rPr>
              <a:t>trieval, password is decrypted securely.</a:t>
            </a:r>
          </a:p>
          <a:p>
            <a:pPr algn="just" marL="697481" indent="-348740" lvl="1">
              <a:lnSpc>
                <a:spcPts val="4522"/>
              </a:lnSpc>
              <a:buFont typeface="Arial"/>
              <a:buChar char="•"/>
            </a:pPr>
            <a:r>
              <a:rPr lang="en-US" sz="3230">
                <a:solidFill>
                  <a:srgbClr val="FFFFFF"/>
                </a:solidFill>
                <a:latin typeface="Helvetica World"/>
                <a:ea typeface="Helvetica World"/>
                <a:cs typeface="Helvetica World"/>
                <a:sym typeface="Helvetica World"/>
              </a:rPr>
              <a:t>Raw encrypted values are never shown to the user.</a:t>
            </a:r>
          </a:p>
          <a:p>
            <a:pPr algn="just">
              <a:lnSpc>
                <a:spcPts val="4522"/>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grpSp>
        <p:nvGrpSpPr>
          <p:cNvPr name="Group 2" id="2"/>
          <p:cNvGrpSpPr/>
          <p:nvPr/>
        </p:nvGrpSpPr>
        <p:grpSpPr>
          <a:xfrm rot="0">
            <a:off x="0" y="-392510"/>
            <a:ext cx="5212196" cy="11072020"/>
            <a:chOff x="0" y="0"/>
            <a:chExt cx="1372759" cy="2916088"/>
          </a:xfrm>
        </p:grpSpPr>
        <p:sp>
          <p:nvSpPr>
            <p:cNvPr name="Freeform 3" id="3"/>
            <p:cNvSpPr/>
            <p:nvPr/>
          </p:nvSpPr>
          <p:spPr>
            <a:xfrm flipH="false" flipV="false" rot="0">
              <a:off x="0" y="0"/>
              <a:ext cx="1372759" cy="2916088"/>
            </a:xfrm>
            <a:custGeom>
              <a:avLst/>
              <a:gdLst/>
              <a:ahLst/>
              <a:cxnLst/>
              <a:rect r="r" b="b" t="t" l="l"/>
              <a:pathLst>
                <a:path h="2916088" w="1372759">
                  <a:moveTo>
                    <a:pt x="0" y="0"/>
                  </a:moveTo>
                  <a:lnTo>
                    <a:pt x="1372759" y="0"/>
                  </a:lnTo>
                  <a:lnTo>
                    <a:pt x="1372759" y="2916088"/>
                  </a:lnTo>
                  <a:lnTo>
                    <a:pt x="0" y="2916088"/>
                  </a:lnTo>
                  <a:close/>
                </a:path>
              </a:pathLst>
            </a:custGeom>
            <a:solidFill>
              <a:srgbClr val="FFFFFF"/>
            </a:solidFill>
          </p:spPr>
        </p:sp>
        <p:sp>
          <p:nvSpPr>
            <p:cNvPr name="TextBox 4" id="4"/>
            <p:cNvSpPr txBox="true"/>
            <p:nvPr/>
          </p:nvSpPr>
          <p:spPr>
            <a:xfrm>
              <a:off x="0" y="-47625"/>
              <a:ext cx="1372759" cy="2963713"/>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10269688">
            <a:off x="5551835" y="9004003"/>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TextBox 6" id="6"/>
          <p:cNvSpPr txBox="true"/>
          <p:nvPr/>
        </p:nvSpPr>
        <p:spPr>
          <a:xfrm rot="0">
            <a:off x="5212196" y="809047"/>
            <a:ext cx="11881127" cy="2509996"/>
          </a:xfrm>
          <a:prstGeom prst="rect">
            <a:avLst/>
          </a:prstGeom>
        </p:spPr>
        <p:txBody>
          <a:bodyPr anchor="t" rtlCol="false" tIns="0" lIns="0" bIns="0" rIns="0">
            <a:spAutoFit/>
          </a:bodyPr>
          <a:lstStyle/>
          <a:p>
            <a:pPr algn="l">
              <a:lnSpc>
                <a:spcPts val="9652"/>
              </a:lnSpc>
            </a:pPr>
            <a:r>
              <a:rPr lang="en-US" sz="9951">
                <a:solidFill>
                  <a:srgbClr val="FFFFFF"/>
                </a:solidFill>
                <a:latin typeface="Anton"/>
                <a:ea typeface="Anton"/>
                <a:cs typeface="Anton"/>
                <a:sym typeface="Anton"/>
              </a:rPr>
              <a:t> PASSWORD</a:t>
            </a:r>
          </a:p>
          <a:p>
            <a:pPr algn="l">
              <a:lnSpc>
                <a:spcPts val="9652"/>
              </a:lnSpc>
            </a:pPr>
            <a:r>
              <a:rPr lang="en-US" sz="9951">
                <a:solidFill>
                  <a:srgbClr val="FFFFFF"/>
                </a:solidFill>
                <a:latin typeface="Anton"/>
                <a:ea typeface="Anton"/>
                <a:cs typeface="Anton"/>
                <a:sym typeface="Anton"/>
              </a:rPr>
              <a:t> RECOVERY FLOW</a:t>
            </a:r>
          </a:p>
        </p:txBody>
      </p:sp>
      <p:sp>
        <p:nvSpPr>
          <p:cNvPr name="Freeform 7" id="7"/>
          <p:cNvSpPr/>
          <p:nvPr/>
        </p:nvSpPr>
        <p:spPr>
          <a:xfrm flipH="false" flipV="false" rot="4362236">
            <a:off x="15377473" y="-1553663"/>
            <a:ext cx="7735476" cy="4631616"/>
          </a:xfrm>
          <a:custGeom>
            <a:avLst/>
            <a:gdLst/>
            <a:ahLst/>
            <a:cxnLst/>
            <a:rect r="r" b="b" t="t" l="l"/>
            <a:pathLst>
              <a:path h="4631616" w="7735476">
                <a:moveTo>
                  <a:pt x="0" y="0"/>
                </a:moveTo>
                <a:lnTo>
                  <a:pt x="7735475" y="0"/>
                </a:lnTo>
                <a:lnTo>
                  <a:pt x="7735475" y="4631616"/>
                </a:lnTo>
                <a:lnTo>
                  <a:pt x="0" y="4631616"/>
                </a:lnTo>
                <a:lnTo>
                  <a:pt x="0" y="0"/>
                </a:lnTo>
                <a:close/>
              </a:path>
            </a:pathLst>
          </a:custGeom>
          <a:blipFill>
            <a:blip r:embed="rId3"/>
            <a:stretch>
              <a:fillRect l="0" t="0" r="0" b="0"/>
            </a:stretch>
          </a:blipFill>
        </p:spPr>
      </p:sp>
      <p:sp>
        <p:nvSpPr>
          <p:cNvPr name="TextBox 8" id="8"/>
          <p:cNvSpPr txBox="true"/>
          <p:nvPr/>
        </p:nvSpPr>
        <p:spPr>
          <a:xfrm rot="0">
            <a:off x="-459289" y="6997326"/>
            <a:ext cx="5084805" cy="3793705"/>
          </a:xfrm>
          <a:prstGeom prst="rect">
            <a:avLst/>
          </a:prstGeom>
        </p:spPr>
        <p:txBody>
          <a:bodyPr anchor="t" rtlCol="false" tIns="0" lIns="0" bIns="0" rIns="0">
            <a:spAutoFit/>
          </a:bodyPr>
          <a:lstStyle/>
          <a:p>
            <a:pPr algn="ctr">
              <a:lnSpc>
                <a:spcPts val="28242"/>
              </a:lnSpc>
            </a:pPr>
            <a:r>
              <a:rPr lang="en-US" sz="29116">
                <a:solidFill>
                  <a:srgbClr val="2B3D73"/>
                </a:solidFill>
                <a:latin typeface="Anton"/>
                <a:ea typeface="Anton"/>
                <a:cs typeface="Anton"/>
                <a:sym typeface="Anton"/>
              </a:rPr>
              <a:t>14</a:t>
            </a:r>
          </a:p>
        </p:txBody>
      </p:sp>
      <p:sp>
        <p:nvSpPr>
          <p:cNvPr name="TextBox 9" id="9"/>
          <p:cNvSpPr txBox="true"/>
          <p:nvPr/>
        </p:nvSpPr>
        <p:spPr>
          <a:xfrm rot="0">
            <a:off x="6167567" y="4128985"/>
            <a:ext cx="16620674" cy="3748249"/>
          </a:xfrm>
          <a:prstGeom prst="rect">
            <a:avLst/>
          </a:prstGeom>
        </p:spPr>
        <p:txBody>
          <a:bodyPr anchor="t" rtlCol="false" tIns="0" lIns="0" bIns="0" rIns="0">
            <a:spAutoFit/>
          </a:bodyPr>
          <a:lstStyle/>
          <a:p>
            <a:pPr algn="just" marL="767771" indent="-383885" lvl="1">
              <a:lnSpc>
                <a:spcPts val="4978"/>
              </a:lnSpc>
              <a:buFont typeface="Arial"/>
              <a:buChar char="•"/>
            </a:pPr>
            <a:r>
              <a:rPr lang="en-US" sz="3556">
                <a:solidFill>
                  <a:srgbClr val="FFFFFF"/>
                </a:solidFill>
                <a:latin typeface="Helvetica World"/>
                <a:ea typeface="Helvetica World"/>
                <a:cs typeface="Helvetica World"/>
                <a:sym typeface="Helvetica World"/>
              </a:rPr>
              <a:t>User provides username or email.</a:t>
            </a:r>
          </a:p>
          <a:p>
            <a:pPr algn="just" marL="767771" indent="-383885" lvl="1">
              <a:lnSpc>
                <a:spcPts val="4978"/>
              </a:lnSpc>
              <a:buFont typeface="Arial"/>
              <a:buChar char="•"/>
            </a:pPr>
            <a:r>
              <a:rPr lang="en-US" sz="3556">
                <a:solidFill>
                  <a:srgbClr val="FFFFFF"/>
                </a:solidFill>
                <a:latin typeface="Helvetica World"/>
                <a:ea typeface="Helvetica World"/>
                <a:cs typeface="Helvetica World"/>
                <a:sym typeface="Helvetica World"/>
              </a:rPr>
              <a:t>Sy</a:t>
            </a:r>
            <a:r>
              <a:rPr lang="en-US" sz="3556">
                <a:solidFill>
                  <a:srgbClr val="FFFFFF"/>
                </a:solidFill>
                <a:latin typeface="Helvetica World"/>
                <a:ea typeface="Helvetica World"/>
                <a:cs typeface="Helvetica World"/>
                <a:sym typeface="Helvetica World"/>
              </a:rPr>
              <a:t>stem retrieves security questions.</a:t>
            </a:r>
          </a:p>
          <a:p>
            <a:pPr algn="just" marL="767771" indent="-383885" lvl="1">
              <a:lnSpc>
                <a:spcPts val="4978"/>
              </a:lnSpc>
              <a:buFont typeface="Arial"/>
              <a:buChar char="•"/>
            </a:pPr>
            <a:r>
              <a:rPr lang="en-US" sz="3556">
                <a:solidFill>
                  <a:srgbClr val="FFFFFF"/>
                </a:solidFill>
                <a:latin typeface="Helvetica World"/>
                <a:ea typeface="Helvetica World"/>
                <a:cs typeface="Helvetica World"/>
                <a:sym typeface="Helvetica World"/>
              </a:rPr>
              <a:t>Answers are verified using hashed comparison.</a:t>
            </a:r>
          </a:p>
          <a:p>
            <a:pPr algn="just" marL="767771" indent="-383885" lvl="1">
              <a:lnSpc>
                <a:spcPts val="4978"/>
              </a:lnSpc>
              <a:buFont typeface="Arial"/>
              <a:buChar char="•"/>
            </a:pPr>
            <a:r>
              <a:rPr lang="en-US" sz="3556">
                <a:solidFill>
                  <a:srgbClr val="FFFFFF"/>
                </a:solidFill>
                <a:latin typeface="Helvetica World"/>
                <a:ea typeface="Helvetica World"/>
                <a:cs typeface="Helvetica World"/>
                <a:sym typeface="Helvetica World"/>
              </a:rPr>
              <a:t>User sets a new master password.</a:t>
            </a:r>
          </a:p>
          <a:p>
            <a:pPr algn="just" marL="767771" indent="-383885" lvl="1">
              <a:lnSpc>
                <a:spcPts val="4978"/>
              </a:lnSpc>
              <a:buFont typeface="Arial"/>
              <a:buChar char="•"/>
            </a:pPr>
            <a:r>
              <a:rPr lang="en-US" sz="3556">
                <a:solidFill>
                  <a:srgbClr val="FFFFFF"/>
                </a:solidFill>
                <a:latin typeface="Helvetica World"/>
                <a:ea typeface="Helvetica World"/>
                <a:cs typeface="Helvetica World"/>
                <a:sym typeface="Helvetica World"/>
              </a:rPr>
              <a:t>New</a:t>
            </a:r>
            <a:r>
              <a:rPr lang="en-US" sz="3556">
                <a:solidFill>
                  <a:srgbClr val="FFFFFF"/>
                </a:solidFill>
                <a:latin typeface="Helvetica World"/>
                <a:ea typeface="Helvetica World"/>
                <a:cs typeface="Helvetica World"/>
                <a:sym typeface="Helvetica World"/>
              </a:rPr>
              <a:t> password is hashed and updated in database.</a:t>
            </a:r>
          </a:p>
          <a:p>
            <a:pPr algn="just">
              <a:lnSpc>
                <a:spcPts val="4978"/>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grpSp>
        <p:nvGrpSpPr>
          <p:cNvPr name="Group 2" id="2"/>
          <p:cNvGrpSpPr/>
          <p:nvPr/>
        </p:nvGrpSpPr>
        <p:grpSpPr>
          <a:xfrm rot="0">
            <a:off x="0" y="-392510"/>
            <a:ext cx="5212196" cy="11072020"/>
            <a:chOff x="0" y="0"/>
            <a:chExt cx="1372759" cy="2916088"/>
          </a:xfrm>
        </p:grpSpPr>
        <p:sp>
          <p:nvSpPr>
            <p:cNvPr name="Freeform 3" id="3"/>
            <p:cNvSpPr/>
            <p:nvPr/>
          </p:nvSpPr>
          <p:spPr>
            <a:xfrm flipH="false" flipV="false" rot="0">
              <a:off x="0" y="0"/>
              <a:ext cx="1372759" cy="2916088"/>
            </a:xfrm>
            <a:custGeom>
              <a:avLst/>
              <a:gdLst/>
              <a:ahLst/>
              <a:cxnLst/>
              <a:rect r="r" b="b" t="t" l="l"/>
              <a:pathLst>
                <a:path h="2916088" w="1372759">
                  <a:moveTo>
                    <a:pt x="0" y="0"/>
                  </a:moveTo>
                  <a:lnTo>
                    <a:pt x="1372759" y="0"/>
                  </a:lnTo>
                  <a:lnTo>
                    <a:pt x="1372759" y="2916088"/>
                  </a:lnTo>
                  <a:lnTo>
                    <a:pt x="0" y="2916088"/>
                  </a:lnTo>
                  <a:close/>
                </a:path>
              </a:pathLst>
            </a:custGeom>
            <a:solidFill>
              <a:srgbClr val="FFFFFF"/>
            </a:solidFill>
          </p:spPr>
        </p:sp>
        <p:sp>
          <p:nvSpPr>
            <p:cNvPr name="TextBox 4" id="4"/>
            <p:cNvSpPr txBox="true"/>
            <p:nvPr/>
          </p:nvSpPr>
          <p:spPr>
            <a:xfrm>
              <a:off x="0" y="-47625"/>
              <a:ext cx="1372759" cy="2963713"/>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10269688">
            <a:off x="5022351" y="9262171"/>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TextBox 6" id="6"/>
          <p:cNvSpPr txBox="true"/>
          <p:nvPr/>
        </p:nvSpPr>
        <p:spPr>
          <a:xfrm rot="0">
            <a:off x="5212196" y="828097"/>
            <a:ext cx="12640798" cy="2703947"/>
          </a:xfrm>
          <a:prstGeom prst="rect">
            <a:avLst/>
          </a:prstGeom>
        </p:spPr>
        <p:txBody>
          <a:bodyPr anchor="t" rtlCol="false" tIns="0" lIns="0" bIns="0" rIns="0">
            <a:spAutoFit/>
          </a:bodyPr>
          <a:lstStyle/>
          <a:p>
            <a:pPr algn="l">
              <a:lnSpc>
                <a:spcPts val="10399"/>
              </a:lnSpc>
            </a:pPr>
            <a:r>
              <a:rPr lang="en-US" sz="10721">
                <a:solidFill>
                  <a:srgbClr val="FFFFFF"/>
                </a:solidFill>
                <a:latin typeface="Anton"/>
                <a:ea typeface="Anton"/>
                <a:cs typeface="Anton"/>
                <a:sym typeface="Anton"/>
              </a:rPr>
              <a:t> FEATURES</a:t>
            </a:r>
          </a:p>
          <a:p>
            <a:pPr algn="l">
              <a:lnSpc>
                <a:spcPts val="10399"/>
              </a:lnSpc>
            </a:pPr>
            <a:r>
              <a:rPr lang="en-US" sz="10721">
                <a:solidFill>
                  <a:srgbClr val="FFFFFF"/>
                </a:solidFill>
                <a:latin typeface="Anton"/>
                <a:ea typeface="Anton"/>
                <a:cs typeface="Anton"/>
                <a:sym typeface="Anton"/>
              </a:rPr>
              <a:t> IMPLEMENTED</a:t>
            </a:r>
          </a:p>
        </p:txBody>
      </p:sp>
      <p:sp>
        <p:nvSpPr>
          <p:cNvPr name="Freeform 7" id="7"/>
          <p:cNvSpPr/>
          <p:nvPr/>
        </p:nvSpPr>
        <p:spPr>
          <a:xfrm flipH="false" flipV="false" rot="4362236">
            <a:off x="14980290" y="-1725836"/>
            <a:ext cx="7735476" cy="4631616"/>
          </a:xfrm>
          <a:custGeom>
            <a:avLst/>
            <a:gdLst/>
            <a:ahLst/>
            <a:cxnLst/>
            <a:rect r="r" b="b" t="t" l="l"/>
            <a:pathLst>
              <a:path h="4631616" w="7735476">
                <a:moveTo>
                  <a:pt x="0" y="0"/>
                </a:moveTo>
                <a:lnTo>
                  <a:pt x="7735476" y="0"/>
                </a:lnTo>
                <a:lnTo>
                  <a:pt x="7735476" y="4631616"/>
                </a:lnTo>
                <a:lnTo>
                  <a:pt x="0" y="4631616"/>
                </a:lnTo>
                <a:lnTo>
                  <a:pt x="0" y="0"/>
                </a:lnTo>
                <a:close/>
              </a:path>
            </a:pathLst>
          </a:custGeom>
          <a:blipFill>
            <a:blip r:embed="rId3"/>
            <a:stretch>
              <a:fillRect l="0" t="0" r="0" b="0"/>
            </a:stretch>
          </a:blipFill>
        </p:spPr>
      </p:sp>
      <p:sp>
        <p:nvSpPr>
          <p:cNvPr name="TextBox 8" id="8"/>
          <p:cNvSpPr txBox="true"/>
          <p:nvPr/>
        </p:nvSpPr>
        <p:spPr>
          <a:xfrm rot="0">
            <a:off x="-161403" y="619125"/>
            <a:ext cx="4989656" cy="3727868"/>
          </a:xfrm>
          <a:prstGeom prst="rect">
            <a:avLst/>
          </a:prstGeom>
        </p:spPr>
        <p:txBody>
          <a:bodyPr anchor="t" rtlCol="false" tIns="0" lIns="0" bIns="0" rIns="0">
            <a:spAutoFit/>
          </a:bodyPr>
          <a:lstStyle/>
          <a:p>
            <a:pPr algn="ctr">
              <a:lnSpc>
                <a:spcPts val="27714"/>
              </a:lnSpc>
            </a:pPr>
            <a:r>
              <a:rPr lang="en-US" sz="28571">
                <a:solidFill>
                  <a:srgbClr val="2B3D73"/>
                </a:solidFill>
                <a:latin typeface="Anton"/>
                <a:ea typeface="Anton"/>
                <a:cs typeface="Anton"/>
                <a:sym typeface="Anton"/>
              </a:rPr>
              <a:t>15</a:t>
            </a:r>
          </a:p>
        </p:txBody>
      </p:sp>
      <p:sp>
        <p:nvSpPr>
          <p:cNvPr name="TextBox 9" id="9"/>
          <p:cNvSpPr txBox="true"/>
          <p:nvPr/>
        </p:nvSpPr>
        <p:spPr>
          <a:xfrm rot="0">
            <a:off x="5849821" y="3834265"/>
            <a:ext cx="16960779" cy="5005684"/>
          </a:xfrm>
          <a:prstGeom prst="rect">
            <a:avLst/>
          </a:prstGeom>
        </p:spPr>
        <p:txBody>
          <a:bodyPr anchor="t" rtlCol="false" tIns="0" lIns="0" bIns="0" rIns="0">
            <a:spAutoFit/>
          </a:bodyPr>
          <a:lstStyle/>
          <a:p>
            <a:pPr algn="just" marL="766626" indent="-383313" lvl="1">
              <a:lnSpc>
                <a:spcPts val="4971"/>
              </a:lnSpc>
              <a:buFont typeface="Arial"/>
              <a:buChar char="•"/>
            </a:pPr>
            <a:r>
              <a:rPr lang="en-US" sz="3550">
                <a:solidFill>
                  <a:srgbClr val="FFFFFF"/>
                </a:solidFill>
                <a:latin typeface="Helvetica World"/>
                <a:ea typeface="Helvetica World"/>
                <a:cs typeface="Helvetica World"/>
                <a:sym typeface="Helvetica World"/>
              </a:rPr>
              <a:t>Secure User Registration</a:t>
            </a:r>
          </a:p>
          <a:p>
            <a:pPr algn="just" marL="766626" indent="-383313" lvl="1">
              <a:lnSpc>
                <a:spcPts val="4971"/>
              </a:lnSpc>
              <a:buFont typeface="Arial"/>
              <a:buChar char="•"/>
            </a:pPr>
            <a:r>
              <a:rPr lang="en-US" sz="3550">
                <a:solidFill>
                  <a:srgbClr val="FFFFFF"/>
                </a:solidFill>
                <a:latin typeface="Helvetica World"/>
                <a:ea typeface="Helvetica World"/>
                <a:cs typeface="Helvetica World"/>
                <a:sym typeface="Helvetica World"/>
              </a:rPr>
              <a:t>Login with OTP Verification</a:t>
            </a:r>
          </a:p>
          <a:p>
            <a:pPr algn="just" marL="766626" indent="-383313" lvl="1">
              <a:lnSpc>
                <a:spcPts val="4971"/>
              </a:lnSpc>
              <a:buFont typeface="Arial"/>
              <a:buChar char="•"/>
            </a:pPr>
            <a:r>
              <a:rPr lang="en-US" sz="3550">
                <a:solidFill>
                  <a:srgbClr val="FFFFFF"/>
                </a:solidFill>
                <a:latin typeface="Helvetica World"/>
                <a:ea typeface="Helvetica World"/>
                <a:cs typeface="Helvetica World"/>
                <a:sym typeface="Helvetica World"/>
              </a:rPr>
              <a:t>AES Encrypted Password Vault</a:t>
            </a:r>
          </a:p>
          <a:p>
            <a:pPr algn="just" marL="766626" indent="-383313" lvl="1">
              <a:lnSpc>
                <a:spcPts val="4971"/>
              </a:lnSpc>
              <a:buFont typeface="Arial"/>
              <a:buChar char="•"/>
            </a:pPr>
            <a:r>
              <a:rPr lang="en-US" sz="3550">
                <a:solidFill>
                  <a:srgbClr val="FFFFFF"/>
                </a:solidFill>
                <a:latin typeface="Helvetica World"/>
                <a:ea typeface="Helvetica World"/>
                <a:cs typeface="Helvetica World"/>
                <a:sym typeface="Helvetica World"/>
              </a:rPr>
              <a:t>Add / Update / Delete Password Entries</a:t>
            </a:r>
          </a:p>
          <a:p>
            <a:pPr algn="just" marL="766626" indent="-383313" lvl="1">
              <a:lnSpc>
                <a:spcPts val="4971"/>
              </a:lnSpc>
              <a:buFont typeface="Arial"/>
              <a:buChar char="•"/>
            </a:pPr>
            <a:r>
              <a:rPr lang="en-US" sz="3550">
                <a:solidFill>
                  <a:srgbClr val="FFFFFF"/>
                </a:solidFill>
                <a:latin typeface="Helvetica World"/>
                <a:ea typeface="Helvetica World"/>
                <a:cs typeface="Helvetica World"/>
                <a:sym typeface="Helvetica World"/>
              </a:rPr>
              <a:t>P</a:t>
            </a:r>
            <a:r>
              <a:rPr lang="en-US" sz="3550">
                <a:solidFill>
                  <a:srgbClr val="FFFFFF"/>
                </a:solidFill>
                <a:latin typeface="Helvetica World"/>
                <a:ea typeface="Helvetica World"/>
                <a:cs typeface="Helvetica World"/>
                <a:sym typeface="Helvetica World"/>
              </a:rPr>
              <a:t>rofile Management</a:t>
            </a:r>
          </a:p>
          <a:p>
            <a:pPr algn="just" marL="766626" indent="-383313" lvl="1">
              <a:lnSpc>
                <a:spcPts val="4971"/>
              </a:lnSpc>
              <a:buFont typeface="Arial"/>
              <a:buChar char="•"/>
            </a:pPr>
            <a:r>
              <a:rPr lang="en-US" sz="3550">
                <a:solidFill>
                  <a:srgbClr val="FFFFFF"/>
                </a:solidFill>
                <a:latin typeface="Helvetica World"/>
                <a:ea typeface="Helvetica World"/>
                <a:cs typeface="Helvetica World"/>
                <a:sym typeface="Helvetica World"/>
              </a:rPr>
              <a:t>Master Password Chang</a:t>
            </a:r>
            <a:r>
              <a:rPr lang="en-US" sz="3550">
                <a:solidFill>
                  <a:srgbClr val="FFFFFF"/>
                </a:solidFill>
                <a:latin typeface="Helvetica World"/>
                <a:ea typeface="Helvetica World"/>
                <a:cs typeface="Helvetica World"/>
                <a:sym typeface="Helvetica World"/>
              </a:rPr>
              <a:t>e</a:t>
            </a:r>
          </a:p>
          <a:p>
            <a:pPr algn="just" marL="766626" indent="-383313" lvl="1">
              <a:lnSpc>
                <a:spcPts val="4971"/>
              </a:lnSpc>
              <a:buFont typeface="Arial"/>
              <a:buChar char="•"/>
            </a:pPr>
            <a:r>
              <a:rPr lang="en-US" sz="3550">
                <a:solidFill>
                  <a:srgbClr val="FFFFFF"/>
                </a:solidFill>
                <a:latin typeface="Helvetica World"/>
                <a:ea typeface="Helvetica World"/>
                <a:cs typeface="Helvetica World"/>
                <a:sym typeface="Helvetica World"/>
              </a:rPr>
              <a:t>Two-Factor</a:t>
            </a:r>
            <a:r>
              <a:rPr lang="en-US" sz="3550">
                <a:solidFill>
                  <a:srgbClr val="FFFFFF"/>
                </a:solidFill>
                <a:latin typeface="Helvetica World"/>
                <a:ea typeface="Helvetica World"/>
                <a:cs typeface="Helvetica World"/>
                <a:sym typeface="Helvetica World"/>
              </a:rPr>
              <a:t> Authentication</a:t>
            </a:r>
          </a:p>
          <a:p>
            <a:pPr algn="just" marL="766626" indent="-383313" lvl="1">
              <a:lnSpc>
                <a:spcPts val="4971"/>
              </a:lnSpc>
              <a:spcBef>
                <a:spcPct val="0"/>
              </a:spcBef>
              <a:buFont typeface="Arial"/>
              <a:buChar char="•"/>
            </a:pPr>
            <a:r>
              <a:rPr lang="en-US" sz="3550">
                <a:solidFill>
                  <a:srgbClr val="FFFFFF"/>
                </a:solidFill>
                <a:latin typeface="Helvetica World"/>
                <a:ea typeface="Helvetica World"/>
                <a:cs typeface="Helvetica World"/>
                <a:sym typeface="Helvetica World"/>
              </a:rPr>
              <a:t>Password Recovery using Security Questions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225008">
            <a:off x="16007534" y="6997052"/>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1784357">
            <a:off x="-115185" y="-3194453"/>
            <a:ext cx="7735476" cy="4631616"/>
          </a:xfrm>
          <a:custGeom>
            <a:avLst/>
            <a:gdLst/>
            <a:ahLst/>
            <a:cxnLst/>
            <a:rect r="r" b="b" t="t" l="l"/>
            <a:pathLst>
              <a:path h="4631616" w="7735476">
                <a:moveTo>
                  <a:pt x="0" y="0"/>
                </a:moveTo>
                <a:lnTo>
                  <a:pt x="7735476" y="0"/>
                </a:lnTo>
                <a:lnTo>
                  <a:pt x="7735476" y="4631616"/>
                </a:lnTo>
                <a:lnTo>
                  <a:pt x="0" y="4631616"/>
                </a:lnTo>
                <a:lnTo>
                  <a:pt x="0" y="0"/>
                </a:lnTo>
                <a:close/>
              </a:path>
            </a:pathLst>
          </a:custGeom>
          <a:blipFill>
            <a:blip r:embed="rId3"/>
            <a:stretch>
              <a:fillRect l="0" t="0" r="0" b="0"/>
            </a:stretch>
          </a:blipFill>
        </p:spPr>
      </p:sp>
      <p:grpSp>
        <p:nvGrpSpPr>
          <p:cNvPr name="Group 4" id="4"/>
          <p:cNvGrpSpPr/>
          <p:nvPr/>
        </p:nvGrpSpPr>
        <p:grpSpPr>
          <a:xfrm rot="0">
            <a:off x="0" y="-392510"/>
            <a:ext cx="1408361" cy="11072020"/>
            <a:chOff x="0" y="0"/>
            <a:chExt cx="370926" cy="2916088"/>
          </a:xfrm>
        </p:grpSpPr>
        <p:sp>
          <p:nvSpPr>
            <p:cNvPr name="Freeform 5" id="5"/>
            <p:cNvSpPr/>
            <p:nvPr/>
          </p:nvSpPr>
          <p:spPr>
            <a:xfrm flipH="false" flipV="false" rot="0">
              <a:off x="0" y="0"/>
              <a:ext cx="370926" cy="2916088"/>
            </a:xfrm>
            <a:custGeom>
              <a:avLst/>
              <a:gdLst/>
              <a:ahLst/>
              <a:cxnLst/>
              <a:rect r="r" b="b" t="t" l="l"/>
              <a:pathLst>
                <a:path h="2916088" w="370926">
                  <a:moveTo>
                    <a:pt x="0" y="0"/>
                  </a:moveTo>
                  <a:lnTo>
                    <a:pt x="370926" y="0"/>
                  </a:lnTo>
                  <a:lnTo>
                    <a:pt x="370926" y="2916088"/>
                  </a:lnTo>
                  <a:lnTo>
                    <a:pt x="0" y="2916088"/>
                  </a:lnTo>
                  <a:close/>
                </a:path>
              </a:pathLst>
            </a:custGeom>
            <a:solidFill>
              <a:srgbClr val="FFFFFF"/>
            </a:solidFill>
          </p:spPr>
        </p:sp>
        <p:sp>
          <p:nvSpPr>
            <p:cNvPr name="TextBox 6" id="6"/>
            <p:cNvSpPr txBox="true"/>
            <p:nvPr/>
          </p:nvSpPr>
          <p:spPr>
            <a:xfrm>
              <a:off x="0" y="-47625"/>
              <a:ext cx="370926" cy="2963713"/>
            </a:xfrm>
            <a:prstGeom prst="rect">
              <a:avLst/>
            </a:prstGeom>
          </p:spPr>
          <p:txBody>
            <a:bodyPr anchor="ctr" rtlCol="false" tIns="50800" lIns="50800" bIns="50800" rIns="50800"/>
            <a:lstStyle/>
            <a:p>
              <a:pPr algn="ctr">
                <a:lnSpc>
                  <a:spcPts val="3639"/>
                </a:lnSpc>
              </a:pPr>
            </a:p>
          </p:txBody>
        </p:sp>
      </p:grpSp>
      <p:grpSp>
        <p:nvGrpSpPr>
          <p:cNvPr name="Group 7" id="7"/>
          <p:cNvGrpSpPr/>
          <p:nvPr/>
        </p:nvGrpSpPr>
        <p:grpSpPr>
          <a:xfrm rot="0">
            <a:off x="2189729" y="3216094"/>
            <a:ext cx="333375" cy="333375"/>
            <a:chOff x="0" y="0"/>
            <a:chExt cx="87802" cy="87802"/>
          </a:xfrm>
        </p:grpSpPr>
        <p:sp>
          <p:nvSpPr>
            <p:cNvPr name="Freeform 8" id="8"/>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solidFill>
              <a:srgbClr val="FFFFFF"/>
            </a:solidFill>
          </p:spPr>
        </p:sp>
        <p:sp>
          <p:nvSpPr>
            <p:cNvPr name="TextBox 9" id="9"/>
            <p:cNvSpPr txBox="true"/>
            <p:nvPr/>
          </p:nvSpPr>
          <p:spPr>
            <a:xfrm>
              <a:off x="0" y="-47625"/>
              <a:ext cx="87802" cy="135427"/>
            </a:xfrm>
            <a:prstGeom prst="rect">
              <a:avLst/>
            </a:prstGeom>
          </p:spPr>
          <p:txBody>
            <a:bodyPr anchor="ctr" rtlCol="false" tIns="50800" lIns="50800" bIns="50800" rIns="50800"/>
            <a:lstStyle/>
            <a:p>
              <a:pPr algn="ctr">
                <a:lnSpc>
                  <a:spcPts val="3639"/>
                </a:lnSpc>
              </a:pPr>
            </a:p>
          </p:txBody>
        </p:sp>
      </p:grpSp>
      <p:grpSp>
        <p:nvGrpSpPr>
          <p:cNvPr name="Group 10" id="10"/>
          <p:cNvGrpSpPr/>
          <p:nvPr/>
        </p:nvGrpSpPr>
        <p:grpSpPr>
          <a:xfrm rot="0">
            <a:off x="5285008" y="6254069"/>
            <a:ext cx="333375" cy="333375"/>
            <a:chOff x="0" y="0"/>
            <a:chExt cx="87802" cy="87802"/>
          </a:xfrm>
        </p:grpSpPr>
        <p:sp>
          <p:nvSpPr>
            <p:cNvPr name="Freeform 11" id="11"/>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solidFill>
              <a:srgbClr val="FFFFFF"/>
            </a:solidFill>
          </p:spPr>
        </p:sp>
        <p:sp>
          <p:nvSpPr>
            <p:cNvPr name="TextBox 12" id="12"/>
            <p:cNvSpPr txBox="true"/>
            <p:nvPr/>
          </p:nvSpPr>
          <p:spPr>
            <a:xfrm>
              <a:off x="0" y="-47625"/>
              <a:ext cx="87802" cy="135427"/>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13603345" y="7216094"/>
            <a:ext cx="6063666" cy="3753168"/>
          </a:xfrm>
          <a:prstGeom prst="rect">
            <a:avLst/>
          </a:prstGeom>
        </p:spPr>
        <p:txBody>
          <a:bodyPr anchor="t" rtlCol="false" tIns="0" lIns="0" bIns="0" rIns="0">
            <a:spAutoFit/>
          </a:bodyPr>
          <a:lstStyle/>
          <a:p>
            <a:pPr algn="ctr">
              <a:lnSpc>
                <a:spcPts val="27904"/>
              </a:lnSpc>
            </a:pPr>
            <a:r>
              <a:rPr lang="en-US" sz="28767">
                <a:solidFill>
                  <a:srgbClr val="FFFFFF"/>
                </a:solidFill>
                <a:latin typeface="Anton"/>
                <a:ea typeface="Anton"/>
                <a:cs typeface="Anton"/>
                <a:sym typeface="Anton"/>
              </a:rPr>
              <a:t>16</a:t>
            </a:r>
          </a:p>
        </p:txBody>
      </p:sp>
      <p:sp>
        <p:nvSpPr>
          <p:cNvPr name="TextBox 14" id="14"/>
          <p:cNvSpPr txBox="true"/>
          <p:nvPr/>
        </p:nvSpPr>
        <p:spPr>
          <a:xfrm rot="0">
            <a:off x="2356417" y="1300334"/>
            <a:ext cx="9737167" cy="1206251"/>
          </a:xfrm>
          <a:prstGeom prst="rect">
            <a:avLst/>
          </a:prstGeom>
        </p:spPr>
        <p:txBody>
          <a:bodyPr anchor="t" rtlCol="false" tIns="0" lIns="0" bIns="0" rIns="0">
            <a:spAutoFit/>
          </a:bodyPr>
          <a:lstStyle/>
          <a:p>
            <a:pPr algn="l">
              <a:lnSpc>
                <a:spcPts val="9059"/>
              </a:lnSpc>
            </a:pPr>
            <a:r>
              <a:rPr lang="en-US" sz="9339">
                <a:solidFill>
                  <a:srgbClr val="FFFFFF"/>
                </a:solidFill>
                <a:latin typeface="Anton"/>
                <a:ea typeface="Anton"/>
                <a:cs typeface="Anton"/>
                <a:sym typeface="Anton"/>
              </a:rPr>
              <a:t>VALIDATION STRATEGY</a:t>
            </a:r>
          </a:p>
        </p:txBody>
      </p:sp>
      <p:sp>
        <p:nvSpPr>
          <p:cNvPr name="TextBox 15" id="15"/>
          <p:cNvSpPr txBox="true"/>
          <p:nvPr/>
        </p:nvSpPr>
        <p:spPr>
          <a:xfrm rot="0">
            <a:off x="2938637" y="3125710"/>
            <a:ext cx="11437610" cy="2385409"/>
          </a:xfrm>
          <a:prstGeom prst="rect">
            <a:avLst/>
          </a:prstGeom>
        </p:spPr>
        <p:txBody>
          <a:bodyPr anchor="t" rtlCol="false" tIns="0" lIns="0" bIns="0" rIns="0">
            <a:spAutoFit/>
          </a:bodyPr>
          <a:lstStyle/>
          <a:p>
            <a:pPr algn="just">
              <a:lnSpc>
                <a:spcPts val="4250"/>
              </a:lnSpc>
            </a:pPr>
            <a:r>
              <a:rPr lang="en-US" sz="3036">
                <a:solidFill>
                  <a:srgbClr val="FFFFFF"/>
                </a:solidFill>
                <a:latin typeface="Helvetica World"/>
                <a:ea typeface="Helvetica World"/>
                <a:cs typeface="Helvetica World"/>
                <a:sym typeface="Helvetica World"/>
              </a:rPr>
              <a:t>Frontend:</a:t>
            </a:r>
          </a:p>
          <a:p>
            <a:pPr algn="l" marL="569168" indent="-284584" lvl="1">
              <a:lnSpc>
                <a:spcPts val="3690"/>
              </a:lnSpc>
              <a:buFont typeface="Arial"/>
              <a:buChar char="•"/>
            </a:pPr>
            <a:r>
              <a:rPr lang="en-US" sz="2636">
                <a:solidFill>
                  <a:srgbClr val="FFFFFF"/>
                </a:solidFill>
                <a:latin typeface="Helvetica World"/>
                <a:ea typeface="Helvetica World"/>
                <a:cs typeface="Helvetica World"/>
                <a:sym typeface="Helvetica World"/>
              </a:rPr>
              <a:t> JavaScript-based validation</a:t>
            </a:r>
          </a:p>
          <a:p>
            <a:pPr algn="l" marL="569168" indent="-284584" lvl="1">
              <a:lnSpc>
                <a:spcPts val="3690"/>
              </a:lnSpc>
              <a:buFont typeface="Arial"/>
              <a:buChar char="•"/>
            </a:pPr>
            <a:r>
              <a:rPr lang="en-US" sz="2636">
                <a:solidFill>
                  <a:srgbClr val="FFFFFF"/>
                </a:solidFill>
                <a:latin typeface="Helvetica World"/>
                <a:ea typeface="Helvetica World"/>
                <a:cs typeface="Helvetica World"/>
                <a:sym typeface="Helvetica World"/>
              </a:rPr>
              <a:t>Custom error messages</a:t>
            </a:r>
          </a:p>
          <a:p>
            <a:pPr algn="l" marL="569168" indent="-284584" lvl="1">
              <a:lnSpc>
                <a:spcPts val="3690"/>
              </a:lnSpc>
              <a:buFont typeface="Arial"/>
              <a:buChar char="•"/>
            </a:pPr>
            <a:r>
              <a:rPr lang="en-US" sz="2636">
                <a:solidFill>
                  <a:srgbClr val="FFFFFF"/>
                </a:solidFill>
                <a:latin typeface="Helvetica World"/>
                <a:ea typeface="Helvetica World"/>
                <a:cs typeface="Helvetica World"/>
                <a:sym typeface="Helvetica World"/>
              </a:rPr>
              <a:t>Prevents unnecessary</a:t>
            </a:r>
            <a:r>
              <a:rPr lang="en-US" sz="2636">
                <a:solidFill>
                  <a:srgbClr val="FFFFFF"/>
                </a:solidFill>
                <a:latin typeface="Helvetica World"/>
                <a:ea typeface="Helvetica World"/>
                <a:cs typeface="Helvetica World"/>
                <a:sym typeface="Helvetica World"/>
              </a:rPr>
              <a:t> API c</a:t>
            </a:r>
            <a:r>
              <a:rPr lang="en-US" sz="2636">
                <a:solidFill>
                  <a:srgbClr val="FFFFFF"/>
                </a:solidFill>
                <a:latin typeface="Helvetica World"/>
                <a:ea typeface="Helvetica World"/>
                <a:cs typeface="Helvetica World"/>
                <a:sym typeface="Helvetica World"/>
              </a:rPr>
              <a:t>alls</a:t>
            </a:r>
          </a:p>
          <a:p>
            <a:pPr algn="just">
              <a:lnSpc>
                <a:spcPts val="3690"/>
              </a:lnSpc>
              <a:spcBef>
                <a:spcPct val="0"/>
              </a:spcBef>
            </a:pPr>
          </a:p>
        </p:txBody>
      </p:sp>
      <p:sp>
        <p:nvSpPr>
          <p:cNvPr name="TextBox 16" id="16"/>
          <p:cNvSpPr txBox="true"/>
          <p:nvPr/>
        </p:nvSpPr>
        <p:spPr>
          <a:xfrm rot="0">
            <a:off x="5896555" y="6121208"/>
            <a:ext cx="8281009" cy="2623810"/>
          </a:xfrm>
          <a:prstGeom prst="rect">
            <a:avLst/>
          </a:prstGeom>
        </p:spPr>
        <p:txBody>
          <a:bodyPr anchor="t" rtlCol="false" tIns="0" lIns="0" bIns="0" rIns="0">
            <a:spAutoFit/>
          </a:bodyPr>
          <a:lstStyle/>
          <a:p>
            <a:pPr algn="just">
              <a:lnSpc>
                <a:spcPts val="4305"/>
              </a:lnSpc>
            </a:pPr>
            <a:r>
              <a:rPr lang="en-US" sz="3075">
                <a:solidFill>
                  <a:srgbClr val="FFFFFF"/>
                </a:solidFill>
                <a:latin typeface="Helvetica World"/>
                <a:ea typeface="Helvetica World"/>
                <a:cs typeface="Helvetica World"/>
                <a:sym typeface="Helvetica World"/>
              </a:rPr>
              <a:t>Backend:</a:t>
            </a:r>
          </a:p>
          <a:p>
            <a:pPr algn="l" marL="663977" indent="-331988" lvl="1">
              <a:lnSpc>
                <a:spcPts val="4305"/>
              </a:lnSpc>
              <a:buFont typeface="Arial"/>
              <a:buChar char="•"/>
            </a:pPr>
            <a:r>
              <a:rPr lang="en-US" sz="3075">
                <a:solidFill>
                  <a:srgbClr val="FFFFFF"/>
                </a:solidFill>
                <a:latin typeface="Helvetica World"/>
                <a:ea typeface="Helvetica World"/>
                <a:cs typeface="Helvetica World"/>
                <a:sym typeface="Helvetica World"/>
              </a:rPr>
              <a:t>DTO validation annotations</a:t>
            </a:r>
          </a:p>
          <a:p>
            <a:pPr algn="l" marL="663977" indent="-331988" lvl="1">
              <a:lnSpc>
                <a:spcPts val="4305"/>
              </a:lnSpc>
              <a:buFont typeface="Arial"/>
              <a:buChar char="•"/>
            </a:pPr>
            <a:r>
              <a:rPr lang="en-US" sz="3075">
                <a:solidFill>
                  <a:srgbClr val="FFFFFF"/>
                </a:solidFill>
                <a:latin typeface="Helvetica World"/>
                <a:ea typeface="Helvetica World"/>
                <a:cs typeface="Helvetica World"/>
                <a:sym typeface="Helvetica World"/>
              </a:rPr>
              <a:t>Global exception handling</a:t>
            </a:r>
          </a:p>
          <a:p>
            <a:pPr algn="l" marL="663977" indent="-331988" lvl="1">
              <a:lnSpc>
                <a:spcPts val="4305"/>
              </a:lnSpc>
              <a:buFont typeface="Arial"/>
              <a:buChar char="•"/>
            </a:pPr>
            <a:r>
              <a:rPr lang="en-US" sz="3075">
                <a:solidFill>
                  <a:srgbClr val="FFFFFF"/>
                </a:solidFill>
                <a:latin typeface="Helvetica World"/>
                <a:ea typeface="Helvetica World"/>
                <a:cs typeface="Helvetica World"/>
                <a:sym typeface="Helvetica World"/>
              </a:rPr>
              <a:t>Structured REST error responses</a:t>
            </a:r>
          </a:p>
          <a:p>
            <a:pPr algn="just">
              <a:lnSpc>
                <a:spcPts val="3605"/>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grpSp>
        <p:nvGrpSpPr>
          <p:cNvPr name="Group 2" id="2"/>
          <p:cNvGrpSpPr/>
          <p:nvPr/>
        </p:nvGrpSpPr>
        <p:grpSpPr>
          <a:xfrm rot="0">
            <a:off x="0" y="-392510"/>
            <a:ext cx="4239100" cy="11072020"/>
            <a:chOff x="0" y="0"/>
            <a:chExt cx="1116471" cy="2916088"/>
          </a:xfrm>
        </p:grpSpPr>
        <p:sp>
          <p:nvSpPr>
            <p:cNvPr name="Freeform 3" id="3"/>
            <p:cNvSpPr/>
            <p:nvPr/>
          </p:nvSpPr>
          <p:spPr>
            <a:xfrm flipH="false" flipV="false" rot="0">
              <a:off x="0" y="0"/>
              <a:ext cx="1116471" cy="2916088"/>
            </a:xfrm>
            <a:custGeom>
              <a:avLst/>
              <a:gdLst/>
              <a:ahLst/>
              <a:cxnLst/>
              <a:rect r="r" b="b" t="t" l="l"/>
              <a:pathLst>
                <a:path h="2916088" w="1116471">
                  <a:moveTo>
                    <a:pt x="0" y="0"/>
                  </a:moveTo>
                  <a:lnTo>
                    <a:pt x="1116471" y="0"/>
                  </a:lnTo>
                  <a:lnTo>
                    <a:pt x="1116471" y="2916088"/>
                  </a:lnTo>
                  <a:lnTo>
                    <a:pt x="0" y="2916088"/>
                  </a:lnTo>
                  <a:close/>
                </a:path>
              </a:pathLst>
            </a:custGeom>
            <a:solidFill>
              <a:srgbClr val="FFFFFF"/>
            </a:solidFill>
          </p:spPr>
        </p:sp>
        <p:sp>
          <p:nvSpPr>
            <p:cNvPr name="TextBox 4" id="4"/>
            <p:cNvSpPr txBox="true"/>
            <p:nvPr/>
          </p:nvSpPr>
          <p:spPr>
            <a:xfrm>
              <a:off x="0" y="-47625"/>
              <a:ext cx="1116471" cy="2963713"/>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10269688">
            <a:off x="5697561" y="8706116"/>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TextBox 6" id="6"/>
          <p:cNvSpPr txBox="true"/>
          <p:nvPr/>
        </p:nvSpPr>
        <p:spPr>
          <a:xfrm rot="0">
            <a:off x="5212196" y="818572"/>
            <a:ext cx="12624957" cy="2671327"/>
          </a:xfrm>
          <a:prstGeom prst="rect">
            <a:avLst/>
          </a:prstGeom>
        </p:spPr>
        <p:txBody>
          <a:bodyPr anchor="t" rtlCol="false" tIns="0" lIns="0" bIns="0" rIns="0">
            <a:spAutoFit/>
          </a:bodyPr>
          <a:lstStyle/>
          <a:p>
            <a:pPr algn="l">
              <a:lnSpc>
                <a:spcPts val="10256"/>
              </a:lnSpc>
            </a:pPr>
            <a:r>
              <a:rPr lang="en-US" sz="10574">
                <a:solidFill>
                  <a:srgbClr val="FFFFFF"/>
                </a:solidFill>
                <a:latin typeface="Anton"/>
                <a:ea typeface="Anton"/>
                <a:cs typeface="Anton"/>
                <a:sym typeface="Anton"/>
              </a:rPr>
              <a:t>CHALLENGES   </a:t>
            </a:r>
          </a:p>
          <a:p>
            <a:pPr algn="l">
              <a:lnSpc>
                <a:spcPts val="10256"/>
              </a:lnSpc>
            </a:pPr>
            <a:r>
              <a:rPr lang="en-US" sz="10574">
                <a:solidFill>
                  <a:srgbClr val="FFFFFF"/>
                </a:solidFill>
                <a:latin typeface="Anton"/>
                <a:ea typeface="Anton"/>
                <a:cs typeface="Anton"/>
                <a:sym typeface="Anton"/>
              </a:rPr>
              <a:t>    FACED</a:t>
            </a:r>
          </a:p>
        </p:txBody>
      </p:sp>
      <p:sp>
        <p:nvSpPr>
          <p:cNvPr name="Freeform 7" id="7"/>
          <p:cNvSpPr/>
          <p:nvPr/>
        </p:nvSpPr>
        <p:spPr>
          <a:xfrm flipH="false" flipV="false" rot="4362236">
            <a:off x="13969415" y="-1553663"/>
            <a:ext cx="7735476" cy="4631616"/>
          </a:xfrm>
          <a:custGeom>
            <a:avLst/>
            <a:gdLst/>
            <a:ahLst/>
            <a:cxnLst/>
            <a:rect r="r" b="b" t="t" l="l"/>
            <a:pathLst>
              <a:path h="4631616" w="7735476">
                <a:moveTo>
                  <a:pt x="0" y="0"/>
                </a:moveTo>
                <a:lnTo>
                  <a:pt x="7735475" y="0"/>
                </a:lnTo>
                <a:lnTo>
                  <a:pt x="7735475" y="4631616"/>
                </a:lnTo>
                <a:lnTo>
                  <a:pt x="0" y="4631616"/>
                </a:lnTo>
                <a:lnTo>
                  <a:pt x="0" y="0"/>
                </a:lnTo>
                <a:close/>
              </a:path>
            </a:pathLst>
          </a:custGeom>
          <a:blipFill>
            <a:blip r:embed="rId3"/>
            <a:stretch>
              <a:fillRect l="0" t="0" r="0" b="0"/>
            </a:stretch>
          </a:blipFill>
        </p:spPr>
      </p:sp>
      <p:sp>
        <p:nvSpPr>
          <p:cNvPr name="TextBox 8" id="8"/>
          <p:cNvSpPr txBox="true"/>
          <p:nvPr/>
        </p:nvSpPr>
        <p:spPr>
          <a:xfrm rot="0">
            <a:off x="-459289" y="6997326"/>
            <a:ext cx="5084805" cy="3793705"/>
          </a:xfrm>
          <a:prstGeom prst="rect">
            <a:avLst/>
          </a:prstGeom>
        </p:spPr>
        <p:txBody>
          <a:bodyPr anchor="t" rtlCol="false" tIns="0" lIns="0" bIns="0" rIns="0">
            <a:spAutoFit/>
          </a:bodyPr>
          <a:lstStyle/>
          <a:p>
            <a:pPr algn="ctr">
              <a:lnSpc>
                <a:spcPts val="28242"/>
              </a:lnSpc>
            </a:pPr>
            <a:r>
              <a:rPr lang="en-US" sz="29116">
                <a:solidFill>
                  <a:srgbClr val="2B3D73"/>
                </a:solidFill>
                <a:latin typeface="Anton"/>
                <a:ea typeface="Anton"/>
                <a:cs typeface="Anton"/>
                <a:sym typeface="Anton"/>
              </a:rPr>
              <a:t>17</a:t>
            </a:r>
          </a:p>
        </p:txBody>
      </p:sp>
      <p:sp>
        <p:nvSpPr>
          <p:cNvPr name="TextBox 9" id="9"/>
          <p:cNvSpPr txBox="true"/>
          <p:nvPr/>
        </p:nvSpPr>
        <p:spPr>
          <a:xfrm rot="0">
            <a:off x="5932893" y="3432749"/>
            <a:ext cx="15265264" cy="3403719"/>
          </a:xfrm>
          <a:prstGeom prst="rect">
            <a:avLst/>
          </a:prstGeom>
        </p:spPr>
        <p:txBody>
          <a:bodyPr anchor="t" rtlCol="false" tIns="0" lIns="0" bIns="0" rIns="0">
            <a:spAutoFit/>
          </a:bodyPr>
          <a:lstStyle/>
          <a:p>
            <a:pPr algn="just">
              <a:lnSpc>
                <a:spcPts val="4543"/>
              </a:lnSpc>
            </a:pPr>
          </a:p>
          <a:p>
            <a:pPr algn="just" marL="700667" indent="-350334" lvl="1">
              <a:lnSpc>
                <a:spcPts val="4543"/>
              </a:lnSpc>
              <a:buFont typeface="Arial"/>
              <a:buChar char="•"/>
            </a:pPr>
            <a:r>
              <a:rPr lang="en-US" sz="3245">
                <a:solidFill>
                  <a:srgbClr val="FFFFFF"/>
                </a:solidFill>
                <a:latin typeface="Helvetica World"/>
                <a:ea typeface="Helvetica World"/>
                <a:cs typeface="Helvetica World"/>
                <a:sym typeface="Helvetica World"/>
              </a:rPr>
              <a:t>Handling backend validation errors in frontend</a:t>
            </a:r>
          </a:p>
          <a:p>
            <a:pPr algn="just" marL="700667" indent="-350334" lvl="1">
              <a:lnSpc>
                <a:spcPts val="4543"/>
              </a:lnSpc>
              <a:buFont typeface="Arial"/>
              <a:buChar char="•"/>
            </a:pPr>
            <a:r>
              <a:rPr lang="en-US" sz="3245">
                <a:solidFill>
                  <a:srgbClr val="FFFFFF"/>
                </a:solidFill>
                <a:latin typeface="Helvetica World"/>
                <a:ea typeface="Helvetica World"/>
                <a:cs typeface="Helvetica World"/>
                <a:sym typeface="Helvetica World"/>
              </a:rPr>
              <a:t>Managing OTP generation and expiration timing</a:t>
            </a:r>
          </a:p>
          <a:p>
            <a:pPr algn="just" marL="700667" indent="-350334" lvl="1">
              <a:lnSpc>
                <a:spcPts val="4543"/>
              </a:lnSpc>
              <a:buFont typeface="Arial"/>
              <a:buChar char="•"/>
            </a:pPr>
            <a:r>
              <a:rPr lang="en-US" sz="3245">
                <a:solidFill>
                  <a:srgbClr val="FFFFFF"/>
                </a:solidFill>
                <a:latin typeface="Helvetica World"/>
                <a:ea typeface="Helvetica World"/>
                <a:cs typeface="Helvetica World"/>
                <a:sym typeface="Helvetica World"/>
              </a:rPr>
              <a:t>En</a:t>
            </a:r>
            <a:r>
              <a:rPr lang="en-US" sz="3245">
                <a:solidFill>
                  <a:srgbClr val="FFFFFF"/>
                </a:solidFill>
                <a:latin typeface="Helvetica World"/>
                <a:ea typeface="Helvetica World"/>
                <a:cs typeface="Helvetica World"/>
                <a:sym typeface="Helvetica World"/>
              </a:rPr>
              <a:t>suring AES encryption consistency</a:t>
            </a:r>
          </a:p>
          <a:p>
            <a:pPr algn="just" marL="700667" indent="-350334" lvl="1">
              <a:lnSpc>
                <a:spcPts val="4543"/>
              </a:lnSpc>
              <a:buFont typeface="Arial"/>
              <a:buChar char="•"/>
            </a:pPr>
            <a:r>
              <a:rPr lang="en-US" sz="3245">
                <a:solidFill>
                  <a:srgbClr val="FFFFFF"/>
                </a:solidFill>
                <a:latin typeface="Helvetica World"/>
                <a:ea typeface="Helvetica World"/>
                <a:cs typeface="Helvetica World"/>
                <a:sym typeface="Helvetica World"/>
              </a:rPr>
              <a:t>Maintaining layered architectur</a:t>
            </a:r>
            <a:r>
              <a:rPr lang="en-US" sz="3245">
                <a:solidFill>
                  <a:srgbClr val="FFFFFF"/>
                </a:solidFill>
                <a:latin typeface="Helvetica World"/>
                <a:ea typeface="Helvetica World"/>
                <a:cs typeface="Helvetica World"/>
                <a:sym typeface="Helvetica World"/>
              </a:rPr>
              <a:t>e</a:t>
            </a:r>
            <a:r>
              <a:rPr lang="en-US" sz="3245">
                <a:solidFill>
                  <a:srgbClr val="FFFFFF"/>
                </a:solidFill>
                <a:latin typeface="Helvetica World"/>
                <a:ea typeface="Helvetica World"/>
                <a:cs typeface="Helvetica World"/>
                <a:sym typeface="Helvetica World"/>
              </a:rPr>
              <a:t> separation</a:t>
            </a:r>
          </a:p>
          <a:p>
            <a:pPr algn="just" marL="700667" indent="-350334" lvl="1">
              <a:lnSpc>
                <a:spcPts val="4543"/>
              </a:lnSpc>
              <a:spcBef>
                <a:spcPct val="0"/>
              </a:spcBef>
              <a:buFont typeface="Arial"/>
              <a:buChar char="•"/>
            </a:pPr>
            <a:r>
              <a:rPr lang="en-US" sz="3245">
                <a:solidFill>
                  <a:srgbClr val="FFFFFF"/>
                </a:solidFill>
                <a:latin typeface="Helvetica World"/>
                <a:ea typeface="Helvetica World"/>
                <a:cs typeface="Helvetica World"/>
                <a:sym typeface="Helvetica World"/>
              </a:rPr>
              <a:t>Designing responsive and validated UI</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grpSp>
        <p:nvGrpSpPr>
          <p:cNvPr name="Group 2" id="2"/>
          <p:cNvGrpSpPr/>
          <p:nvPr/>
        </p:nvGrpSpPr>
        <p:grpSpPr>
          <a:xfrm rot="0">
            <a:off x="0" y="-392510"/>
            <a:ext cx="4417832" cy="11072020"/>
            <a:chOff x="0" y="0"/>
            <a:chExt cx="1163544" cy="2916088"/>
          </a:xfrm>
        </p:grpSpPr>
        <p:sp>
          <p:nvSpPr>
            <p:cNvPr name="Freeform 3" id="3"/>
            <p:cNvSpPr/>
            <p:nvPr/>
          </p:nvSpPr>
          <p:spPr>
            <a:xfrm flipH="false" flipV="false" rot="0">
              <a:off x="0" y="0"/>
              <a:ext cx="1163544" cy="2916088"/>
            </a:xfrm>
            <a:custGeom>
              <a:avLst/>
              <a:gdLst/>
              <a:ahLst/>
              <a:cxnLst/>
              <a:rect r="r" b="b" t="t" l="l"/>
              <a:pathLst>
                <a:path h="2916088" w="1163544">
                  <a:moveTo>
                    <a:pt x="0" y="0"/>
                  </a:moveTo>
                  <a:lnTo>
                    <a:pt x="1163544" y="0"/>
                  </a:lnTo>
                  <a:lnTo>
                    <a:pt x="1163544" y="2916088"/>
                  </a:lnTo>
                  <a:lnTo>
                    <a:pt x="0" y="2916088"/>
                  </a:lnTo>
                  <a:close/>
                </a:path>
              </a:pathLst>
            </a:custGeom>
            <a:solidFill>
              <a:srgbClr val="FFFFFF"/>
            </a:solidFill>
          </p:spPr>
        </p:sp>
        <p:sp>
          <p:nvSpPr>
            <p:cNvPr name="TextBox 4" id="4"/>
            <p:cNvSpPr txBox="true"/>
            <p:nvPr/>
          </p:nvSpPr>
          <p:spPr>
            <a:xfrm>
              <a:off x="0" y="-47625"/>
              <a:ext cx="1163544" cy="2963713"/>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10269688">
            <a:off x="5498970" y="8805412"/>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TextBox 6" id="6"/>
          <p:cNvSpPr txBox="true"/>
          <p:nvPr/>
        </p:nvSpPr>
        <p:spPr>
          <a:xfrm rot="0">
            <a:off x="5391771" y="681177"/>
            <a:ext cx="10276267" cy="2194371"/>
          </a:xfrm>
          <a:prstGeom prst="rect">
            <a:avLst/>
          </a:prstGeom>
        </p:spPr>
        <p:txBody>
          <a:bodyPr anchor="t" rtlCol="false" tIns="0" lIns="0" bIns="0" rIns="0">
            <a:spAutoFit/>
          </a:bodyPr>
          <a:lstStyle/>
          <a:p>
            <a:pPr algn="l">
              <a:lnSpc>
                <a:spcPts val="8454"/>
              </a:lnSpc>
            </a:pPr>
            <a:r>
              <a:rPr lang="en-US" sz="8715">
                <a:solidFill>
                  <a:srgbClr val="FFFFFF"/>
                </a:solidFill>
                <a:latin typeface="Anton"/>
                <a:ea typeface="Anton"/>
                <a:cs typeface="Anton"/>
                <a:sym typeface="Anton"/>
              </a:rPr>
              <a:t>IMPROVEMENTS &amp; FUTURE SCOPE</a:t>
            </a:r>
          </a:p>
        </p:txBody>
      </p:sp>
      <p:sp>
        <p:nvSpPr>
          <p:cNvPr name="Freeform 7" id="7"/>
          <p:cNvSpPr/>
          <p:nvPr/>
        </p:nvSpPr>
        <p:spPr>
          <a:xfrm flipH="false" flipV="false" rot="4362236">
            <a:off x="15476768" y="-2007502"/>
            <a:ext cx="7735476" cy="4631616"/>
          </a:xfrm>
          <a:custGeom>
            <a:avLst/>
            <a:gdLst/>
            <a:ahLst/>
            <a:cxnLst/>
            <a:rect r="r" b="b" t="t" l="l"/>
            <a:pathLst>
              <a:path h="4631616" w="7735476">
                <a:moveTo>
                  <a:pt x="0" y="0"/>
                </a:moveTo>
                <a:lnTo>
                  <a:pt x="7735476" y="0"/>
                </a:lnTo>
                <a:lnTo>
                  <a:pt x="7735476" y="4631616"/>
                </a:lnTo>
                <a:lnTo>
                  <a:pt x="0" y="4631616"/>
                </a:lnTo>
                <a:lnTo>
                  <a:pt x="0" y="0"/>
                </a:lnTo>
                <a:close/>
              </a:path>
            </a:pathLst>
          </a:custGeom>
          <a:blipFill>
            <a:blip r:embed="rId3"/>
            <a:stretch>
              <a:fillRect l="0" t="0" r="0" b="0"/>
            </a:stretch>
          </a:blipFill>
        </p:spPr>
      </p:sp>
      <p:sp>
        <p:nvSpPr>
          <p:cNvPr name="TextBox 8" id="8"/>
          <p:cNvSpPr txBox="true"/>
          <p:nvPr/>
        </p:nvSpPr>
        <p:spPr>
          <a:xfrm rot="0">
            <a:off x="-459289" y="6997326"/>
            <a:ext cx="5084805" cy="3793705"/>
          </a:xfrm>
          <a:prstGeom prst="rect">
            <a:avLst/>
          </a:prstGeom>
        </p:spPr>
        <p:txBody>
          <a:bodyPr anchor="t" rtlCol="false" tIns="0" lIns="0" bIns="0" rIns="0">
            <a:spAutoFit/>
          </a:bodyPr>
          <a:lstStyle/>
          <a:p>
            <a:pPr algn="ctr">
              <a:lnSpc>
                <a:spcPts val="28242"/>
              </a:lnSpc>
            </a:pPr>
            <a:r>
              <a:rPr lang="en-US" sz="29116">
                <a:solidFill>
                  <a:srgbClr val="2B3D73"/>
                </a:solidFill>
                <a:latin typeface="Anton"/>
                <a:ea typeface="Anton"/>
                <a:cs typeface="Anton"/>
                <a:sym typeface="Anton"/>
              </a:rPr>
              <a:t>18</a:t>
            </a:r>
          </a:p>
        </p:txBody>
      </p:sp>
      <p:sp>
        <p:nvSpPr>
          <p:cNvPr name="TextBox 9" id="9"/>
          <p:cNvSpPr txBox="true"/>
          <p:nvPr/>
        </p:nvSpPr>
        <p:spPr>
          <a:xfrm rot="0">
            <a:off x="5817142" y="4058853"/>
            <a:ext cx="17228064" cy="3230174"/>
          </a:xfrm>
          <a:prstGeom prst="rect">
            <a:avLst/>
          </a:prstGeom>
        </p:spPr>
        <p:txBody>
          <a:bodyPr anchor="t" rtlCol="false" tIns="0" lIns="0" bIns="0" rIns="0">
            <a:spAutoFit/>
          </a:bodyPr>
          <a:lstStyle/>
          <a:p>
            <a:pPr algn="just" marL="795829" indent="-397914" lvl="1">
              <a:lnSpc>
                <a:spcPts val="5160"/>
              </a:lnSpc>
              <a:buFont typeface="Arial"/>
              <a:buChar char="•"/>
            </a:pPr>
            <a:r>
              <a:rPr lang="en-US" sz="3686">
                <a:solidFill>
                  <a:srgbClr val="FFFFFF"/>
                </a:solidFill>
                <a:latin typeface="Helvetica World"/>
                <a:ea typeface="Helvetica World"/>
                <a:cs typeface="Helvetica World"/>
                <a:sym typeface="Helvetica World"/>
              </a:rPr>
              <a:t>Email-based OTP delivery</a:t>
            </a:r>
          </a:p>
          <a:p>
            <a:pPr algn="just" marL="795829" indent="-397914" lvl="1">
              <a:lnSpc>
                <a:spcPts val="5160"/>
              </a:lnSpc>
              <a:buFont typeface="Arial"/>
              <a:buChar char="•"/>
            </a:pPr>
            <a:r>
              <a:rPr lang="en-US" sz="3686">
                <a:solidFill>
                  <a:srgbClr val="FFFFFF"/>
                </a:solidFill>
                <a:latin typeface="Helvetica World"/>
                <a:ea typeface="Helvetica World"/>
                <a:cs typeface="Helvetica World"/>
                <a:sym typeface="Helvetica World"/>
              </a:rPr>
              <a:t>V</a:t>
            </a:r>
            <a:r>
              <a:rPr lang="en-US" sz="3686">
                <a:solidFill>
                  <a:srgbClr val="FFFFFF"/>
                </a:solidFill>
                <a:latin typeface="Helvetica World"/>
                <a:ea typeface="Helvetica World"/>
                <a:cs typeface="Helvetica World"/>
                <a:sym typeface="Helvetica World"/>
              </a:rPr>
              <a:t>ault sharing between trusted users</a:t>
            </a:r>
          </a:p>
          <a:p>
            <a:pPr algn="just" marL="795829" indent="-397914" lvl="1">
              <a:lnSpc>
                <a:spcPts val="5160"/>
              </a:lnSpc>
              <a:buFont typeface="Arial"/>
              <a:buChar char="•"/>
            </a:pPr>
            <a:r>
              <a:rPr lang="en-US" sz="3686">
                <a:solidFill>
                  <a:srgbClr val="FFFFFF"/>
                </a:solidFill>
                <a:latin typeface="Helvetica World"/>
                <a:ea typeface="Helvetica World"/>
                <a:cs typeface="Helvetica World"/>
                <a:sym typeface="Helvetica World"/>
              </a:rPr>
              <a:t>Cloud deployment (AWS / Azure)</a:t>
            </a:r>
          </a:p>
          <a:p>
            <a:pPr algn="just" marL="795829" indent="-397914" lvl="1">
              <a:lnSpc>
                <a:spcPts val="5160"/>
              </a:lnSpc>
              <a:buFont typeface="Arial"/>
              <a:buChar char="•"/>
            </a:pPr>
            <a:r>
              <a:rPr lang="en-US" sz="3686">
                <a:solidFill>
                  <a:srgbClr val="FFFFFF"/>
                </a:solidFill>
                <a:latin typeface="Helvetica World"/>
                <a:ea typeface="Helvetica World"/>
                <a:cs typeface="Helvetica World"/>
                <a:sym typeface="Helvetica World"/>
              </a:rPr>
              <a:t>Docker containerization</a:t>
            </a:r>
          </a:p>
          <a:p>
            <a:pPr algn="just" marL="795829" indent="-397914" lvl="1">
              <a:lnSpc>
                <a:spcPts val="5160"/>
              </a:lnSpc>
              <a:spcBef>
                <a:spcPct val="0"/>
              </a:spcBef>
              <a:buFont typeface="Arial"/>
              <a:buChar char="•"/>
            </a:pPr>
            <a:r>
              <a:rPr lang="en-US" sz="3686">
                <a:solidFill>
                  <a:srgbClr val="FFFFFF"/>
                </a:solidFill>
                <a:latin typeface="Helvetica World"/>
                <a:ea typeface="Helvetica World"/>
                <a:cs typeface="Helvetica World"/>
                <a:sym typeface="Helvetica World"/>
              </a:rPr>
              <a:t>Role-based acc</a:t>
            </a:r>
            <a:r>
              <a:rPr lang="en-US" sz="3686">
                <a:solidFill>
                  <a:srgbClr val="FFFFFF"/>
                </a:solidFill>
                <a:latin typeface="Helvetica World"/>
                <a:ea typeface="Helvetica World"/>
                <a:cs typeface="Helvetica World"/>
                <a:sym typeface="Helvetica World"/>
              </a:rPr>
              <a:t>ess</a:t>
            </a:r>
            <a:r>
              <a:rPr lang="en-US" sz="3686">
                <a:solidFill>
                  <a:srgbClr val="FFFFFF"/>
                </a:solidFill>
                <a:latin typeface="Helvetica World"/>
                <a:ea typeface="Helvetica World"/>
                <a:cs typeface="Helvetica World"/>
                <a:sym typeface="Helvetica World"/>
              </a:rPr>
              <a:t> control</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2B3D73"/>
        </a:solidFill>
      </p:bgPr>
    </p:bg>
    <p:spTree>
      <p:nvGrpSpPr>
        <p:cNvPr id="1" name=""/>
        <p:cNvGrpSpPr/>
        <p:nvPr/>
      </p:nvGrpSpPr>
      <p:grpSpPr>
        <a:xfrm>
          <a:off x="0" y="0"/>
          <a:ext cx="0" cy="0"/>
          <a:chOff x="0" y="0"/>
          <a:chExt cx="0" cy="0"/>
        </a:xfrm>
      </p:grpSpPr>
      <p:grpSp>
        <p:nvGrpSpPr>
          <p:cNvPr name="Group 2" id="2"/>
          <p:cNvGrpSpPr/>
          <p:nvPr/>
        </p:nvGrpSpPr>
        <p:grpSpPr>
          <a:xfrm rot="0">
            <a:off x="13057042" y="-392510"/>
            <a:ext cx="5396771" cy="11072020"/>
            <a:chOff x="0" y="0"/>
            <a:chExt cx="1421372" cy="2916088"/>
          </a:xfrm>
        </p:grpSpPr>
        <p:sp>
          <p:nvSpPr>
            <p:cNvPr name="Freeform 3" id="3"/>
            <p:cNvSpPr/>
            <p:nvPr/>
          </p:nvSpPr>
          <p:spPr>
            <a:xfrm flipH="false" flipV="false" rot="0">
              <a:off x="0" y="0"/>
              <a:ext cx="1421372" cy="2916088"/>
            </a:xfrm>
            <a:custGeom>
              <a:avLst/>
              <a:gdLst/>
              <a:ahLst/>
              <a:cxnLst/>
              <a:rect r="r" b="b" t="t" l="l"/>
              <a:pathLst>
                <a:path h="2916088" w="1421372">
                  <a:moveTo>
                    <a:pt x="0" y="0"/>
                  </a:moveTo>
                  <a:lnTo>
                    <a:pt x="1421372" y="0"/>
                  </a:lnTo>
                  <a:lnTo>
                    <a:pt x="1421372" y="2916088"/>
                  </a:lnTo>
                  <a:lnTo>
                    <a:pt x="0" y="2916088"/>
                  </a:lnTo>
                  <a:close/>
                </a:path>
              </a:pathLst>
            </a:custGeom>
            <a:solidFill>
              <a:srgbClr val="FFFFFF"/>
            </a:solidFill>
          </p:spPr>
        </p:sp>
        <p:sp>
          <p:nvSpPr>
            <p:cNvPr name="TextBox 4" id="4"/>
            <p:cNvSpPr txBox="true"/>
            <p:nvPr/>
          </p:nvSpPr>
          <p:spPr>
            <a:xfrm>
              <a:off x="0" y="-47625"/>
              <a:ext cx="1421372" cy="2963713"/>
            </a:xfrm>
            <a:prstGeom prst="rect">
              <a:avLst/>
            </a:prstGeom>
          </p:spPr>
          <p:txBody>
            <a:bodyPr anchor="ctr" rtlCol="false" tIns="50800" lIns="50800" bIns="50800" rIns="50800"/>
            <a:lstStyle/>
            <a:p>
              <a:pPr algn="ctr">
                <a:lnSpc>
                  <a:spcPts val="3639"/>
                </a:lnSpc>
              </a:pPr>
            </a:p>
          </p:txBody>
        </p:sp>
      </p:grpSp>
      <p:sp>
        <p:nvSpPr>
          <p:cNvPr name="TextBox 5" id="5"/>
          <p:cNvSpPr txBox="true"/>
          <p:nvPr/>
        </p:nvSpPr>
        <p:spPr>
          <a:xfrm rot="0">
            <a:off x="12854177" y="6928904"/>
            <a:ext cx="5036641" cy="3750606"/>
          </a:xfrm>
          <a:prstGeom prst="rect">
            <a:avLst/>
          </a:prstGeom>
        </p:spPr>
        <p:txBody>
          <a:bodyPr anchor="t" rtlCol="false" tIns="0" lIns="0" bIns="0" rIns="0">
            <a:spAutoFit/>
          </a:bodyPr>
          <a:lstStyle/>
          <a:p>
            <a:pPr algn="ctr">
              <a:lnSpc>
                <a:spcPts val="27975"/>
              </a:lnSpc>
            </a:pPr>
            <a:r>
              <a:rPr lang="en-US" sz="28840">
                <a:solidFill>
                  <a:srgbClr val="2B3D73"/>
                </a:solidFill>
                <a:latin typeface="Anton"/>
                <a:ea typeface="Anton"/>
                <a:cs typeface="Anton"/>
                <a:sym typeface="Anton"/>
              </a:rPr>
              <a:t>19</a:t>
            </a:r>
          </a:p>
        </p:txBody>
      </p:sp>
      <p:sp>
        <p:nvSpPr>
          <p:cNvPr name="TextBox 6" id="6"/>
          <p:cNvSpPr txBox="true"/>
          <p:nvPr/>
        </p:nvSpPr>
        <p:spPr>
          <a:xfrm rot="0">
            <a:off x="505946" y="1774446"/>
            <a:ext cx="11441156" cy="1249716"/>
          </a:xfrm>
          <a:prstGeom prst="rect">
            <a:avLst/>
          </a:prstGeom>
        </p:spPr>
        <p:txBody>
          <a:bodyPr anchor="t" rtlCol="false" tIns="0" lIns="0" bIns="0" rIns="0">
            <a:spAutoFit/>
          </a:bodyPr>
          <a:lstStyle/>
          <a:p>
            <a:pPr algn="l">
              <a:lnSpc>
                <a:spcPts val="9302"/>
              </a:lnSpc>
            </a:pPr>
            <a:r>
              <a:rPr lang="en-US" sz="9590">
                <a:solidFill>
                  <a:srgbClr val="FFFFFF"/>
                </a:solidFill>
                <a:latin typeface="Anton"/>
                <a:ea typeface="Anton"/>
                <a:cs typeface="Anton"/>
                <a:sym typeface="Anton"/>
              </a:rPr>
              <a:t>CONCLUSION</a:t>
            </a:r>
          </a:p>
        </p:txBody>
      </p:sp>
      <p:sp>
        <p:nvSpPr>
          <p:cNvPr name="TextBox 7" id="7"/>
          <p:cNvSpPr txBox="true"/>
          <p:nvPr/>
        </p:nvSpPr>
        <p:spPr>
          <a:xfrm rot="0">
            <a:off x="721184" y="3999729"/>
            <a:ext cx="10320844" cy="3042116"/>
          </a:xfrm>
          <a:prstGeom prst="rect">
            <a:avLst/>
          </a:prstGeom>
        </p:spPr>
        <p:txBody>
          <a:bodyPr anchor="t" rtlCol="false" tIns="0" lIns="0" bIns="0" rIns="0">
            <a:spAutoFit/>
          </a:bodyPr>
          <a:lstStyle/>
          <a:p>
            <a:pPr algn="l" marL="535790" indent="-267895" lvl="1">
              <a:lnSpc>
                <a:spcPts val="3474"/>
              </a:lnSpc>
              <a:buFont typeface="Arial"/>
              <a:buChar char="•"/>
            </a:pPr>
            <a:r>
              <a:rPr lang="en-US" sz="2481">
                <a:solidFill>
                  <a:srgbClr val="FFFFFF"/>
                </a:solidFill>
                <a:latin typeface="Helvetica World"/>
                <a:ea typeface="Helvetica World"/>
                <a:cs typeface="Helvetica World"/>
                <a:sym typeface="Helvetica World"/>
              </a:rPr>
              <a:t>Revature Password Manager provides secure and centralized password storage with strong encryption mechanisms.</a:t>
            </a:r>
          </a:p>
          <a:p>
            <a:pPr algn="l" marL="535790" indent="-267895" lvl="1">
              <a:lnSpc>
                <a:spcPts val="3474"/>
              </a:lnSpc>
              <a:buFont typeface="Arial"/>
              <a:buChar char="•"/>
            </a:pPr>
            <a:r>
              <a:rPr lang="en-US" sz="2481">
                <a:solidFill>
                  <a:srgbClr val="FFFFFF"/>
                </a:solidFill>
                <a:latin typeface="Helvetica World"/>
                <a:ea typeface="Helvetica World"/>
                <a:cs typeface="Helvetica World"/>
                <a:sym typeface="Helvetica World"/>
              </a:rPr>
              <a:t>It follows a layered and scalable architecture with separation of concerns between frontend and backend. The system ensures secure authentication, encryption, and validation, making it production-ready and extensible.</a:t>
            </a:r>
          </a:p>
          <a:p>
            <a:pPr algn="l">
              <a:lnSpc>
                <a:spcPts val="3474"/>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2B3D73"/>
        </a:solidFill>
      </p:bgPr>
    </p:bg>
    <p:spTree>
      <p:nvGrpSpPr>
        <p:cNvPr id="1" name=""/>
        <p:cNvGrpSpPr/>
        <p:nvPr/>
      </p:nvGrpSpPr>
      <p:grpSpPr>
        <a:xfrm>
          <a:off x="0" y="0"/>
          <a:ext cx="0" cy="0"/>
          <a:chOff x="0" y="0"/>
          <a:chExt cx="0" cy="0"/>
        </a:xfrm>
      </p:grpSpPr>
      <p:sp>
        <p:nvSpPr>
          <p:cNvPr name="TextBox 2" id="2"/>
          <p:cNvSpPr txBox="true"/>
          <p:nvPr/>
        </p:nvSpPr>
        <p:spPr>
          <a:xfrm rot="0">
            <a:off x="2146009" y="4281285"/>
            <a:ext cx="12369506" cy="1576814"/>
          </a:xfrm>
          <a:prstGeom prst="rect">
            <a:avLst/>
          </a:prstGeom>
        </p:spPr>
        <p:txBody>
          <a:bodyPr anchor="t" rtlCol="false" tIns="0" lIns="0" bIns="0" rIns="0">
            <a:spAutoFit/>
          </a:bodyPr>
          <a:lstStyle/>
          <a:p>
            <a:pPr algn="ctr">
              <a:lnSpc>
                <a:spcPts val="11714"/>
              </a:lnSpc>
            </a:pPr>
            <a:r>
              <a:rPr lang="en-US" sz="12077">
                <a:solidFill>
                  <a:srgbClr val="FFFFFF"/>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DAG_uZgOGCM</dc:identifier>
  <dcterms:modified xsi:type="dcterms:W3CDTF">2011-08-01T06:04:30Z</dcterms:modified>
  <cp:revision>1</cp:revision>
  <dc:title>Password manager PPT</dc:title>
</cp:coreProperties>
</file>